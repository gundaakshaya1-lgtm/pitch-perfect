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99"/>
    <a:srgbClr val="FF33CC"/>
    <a:srgbClr val="FFFFCC"/>
    <a:srgbClr val="FFCC99"/>
    <a:srgbClr val="AF4343"/>
    <a:srgbClr val="000000"/>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0" d="100"/>
          <a:sy n="70" d="100"/>
        </p:scale>
        <p:origin x="66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commentAuthors" Target="commentAuthors.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3419E3E-5B7C-457F-B373-205BBE8D9876}"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3FA6FD-BA4A-4BF2-B194-5537A498FB79}"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13419E3E-5B7C-457F-B373-205BBE8D9876}"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3FA6FD-BA4A-4BF2-B194-5537A498FB79}"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13419E3E-5B7C-457F-B373-205BBE8D9876}"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3FA6FD-BA4A-4BF2-B194-5537A498FB79}"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Date Placeholder 4"/>
          <p:cNvSpPr>
            <a:spLocks noGrp="1"/>
          </p:cNvSpPr>
          <p:nvPr>
            <p:ph type="dt" sz="half" idx="10"/>
          </p:nvPr>
        </p:nvSpPr>
        <p:spPr/>
        <p:txBody>
          <a:bodyPr/>
          <a:lstStyle/>
          <a:p>
            <a:fld id="{13419E3E-5B7C-457F-B373-205BBE8D9876}"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A3FA6FD-BA4A-4BF2-B194-5537A498FB79}"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6"/>
          <p:cNvSpPr>
            <a:spLocks noGrp="1"/>
          </p:cNvSpPr>
          <p:nvPr>
            <p:ph type="dt" sz="half" idx="10"/>
          </p:nvPr>
        </p:nvSpPr>
        <p:spPr/>
        <p:txBody>
          <a:bodyPr/>
          <a:lstStyle/>
          <a:p>
            <a:fld id="{13419E3E-5B7C-457F-B373-205BBE8D9876}"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A3FA6FD-BA4A-4BF2-B194-5537A498FB79}"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3419E3E-5B7C-457F-B373-205BBE8D9876}"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A3FA6FD-BA4A-4BF2-B194-5537A498FB79}"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3419E3E-5B7C-457F-B373-205BBE8D9876}"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A3FA6FD-BA4A-4BF2-B194-5537A498FB79}"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13419E3E-5B7C-457F-B373-205BBE8D9876}"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A3FA6FD-BA4A-4BF2-B194-5537A498FB79}"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13419E3E-5B7C-457F-B373-205BBE8D9876}"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A3FA6FD-BA4A-4BF2-B194-5537A498FB79}"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13419E3E-5B7C-457F-B373-205BBE8D9876}"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3FA6FD-BA4A-4BF2-B194-5537A498FB79}"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13419E3E-5B7C-457F-B373-205BBE8D9876}"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3FA6FD-BA4A-4BF2-B194-5537A498FB79}"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rect">
            <a:fillToRect l="100000" t="100000"/>
          </a:path>
          <a:tileRect r="-100000" b="-100000"/>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419E3E-5B7C-457F-B373-205BBE8D9876}"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3FA6FD-BA4A-4BF2-B194-5537A498FB79}"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sz="6700" dirty="0" smtClean="0">
                <a:latin typeface="Arial" panose="020B0604020202020204" pitchFamily="34" charset="0"/>
                <a:cs typeface="Arial" panose="020B0604020202020204" pitchFamily="34" charset="0"/>
              </a:rPr>
              <a:t>PITCH PERFECT</a:t>
            </a:r>
            <a:br>
              <a:rPr lang="en-US" sz="5400" dirty="0" smtClean="0">
                <a:latin typeface="Bell MT" panose="02020503060305020303" pitchFamily="18" charset="0"/>
              </a:rPr>
            </a:br>
            <a:r>
              <a:rPr lang="en-US" sz="4900" dirty="0" smtClean="0">
                <a:latin typeface="Arial" panose="020B0604020202020204" pitchFamily="34" charset="0"/>
                <a:cs typeface="Arial" panose="020B0604020202020204" pitchFamily="34" charset="0"/>
              </a:rPr>
              <a:t>A LINKED LIST APPLICATION</a:t>
            </a:r>
            <a:br>
              <a:rPr lang="en-US" sz="5400" dirty="0" smtClean="0">
                <a:latin typeface="Arial" panose="020B0604020202020204" pitchFamily="34" charset="0"/>
                <a:cs typeface="Arial" panose="020B0604020202020204" pitchFamily="34" charset="0"/>
              </a:rPr>
            </a:br>
            <a:endParaRPr lang="en-IN" sz="5400"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p:txBody>
          <a:bodyPr>
            <a:normAutofit/>
          </a:bodyPr>
          <a:lstStyle/>
          <a:p>
            <a:r>
              <a:rPr lang="en-US" sz="3200" dirty="0" smtClean="0">
                <a:latin typeface="Arial" panose="020B0604020202020204" pitchFamily="34" charset="0"/>
                <a:cs typeface="Arial" panose="020B0604020202020204" pitchFamily="34" charset="0"/>
              </a:rPr>
              <a:t>The Ensemble</a:t>
            </a:r>
            <a:endParaRPr lang="en-US" sz="3200" dirty="0" smtClean="0">
              <a:latin typeface="Arial" panose="020B0604020202020204" pitchFamily="34" charset="0"/>
              <a:cs typeface="Arial" panose="020B0604020202020204" pitchFamily="34" charset="0"/>
            </a:endParaRPr>
          </a:p>
          <a:p>
            <a:r>
              <a:rPr lang="en-US" sz="3200" dirty="0" smtClean="0">
                <a:latin typeface="Arial" panose="020B0604020202020204" pitchFamily="34" charset="0"/>
                <a:cs typeface="Arial" panose="020B0604020202020204" pitchFamily="34" charset="0"/>
              </a:rPr>
              <a:t>G. Akshaya || B. Namrathaa</a:t>
            </a:r>
            <a:endParaRPr lang="en-IN" sz="3200" dirty="0">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Bradley Hand ITC" panose="03070402050302030203" pitchFamily="66" charset="0"/>
              </a:rPr>
              <a:t>The Anatomy of Our </a:t>
            </a:r>
            <a:r>
              <a:rPr lang="en-US" b="1" dirty="0" smtClean="0">
                <a:latin typeface="Bradley Hand ITC" panose="03070402050302030203" pitchFamily="66" charset="0"/>
              </a:rPr>
              <a:t>Choice</a:t>
            </a:r>
            <a:br>
              <a:rPr lang="en-US" b="1" dirty="0" smtClean="0">
                <a:latin typeface="Bradley Hand ITC" panose="03070402050302030203" pitchFamily="66" charset="0"/>
              </a:rPr>
            </a:br>
            <a:r>
              <a:rPr lang="en-US" b="1" dirty="0" smtClean="0">
                <a:latin typeface="Bradley Hand ITC" panose="03070402050302030203" pitchFamily="66" charset="0"/>
              </a:rPr>
              <a:t>Why </a:t>
            </a:r>
            <a:r>
              <a:rPr lang="en-US" b="1" dirty="0">
                <a:latin typeface="Bradley Hand ITC" panose="03070402050302030203" pitchFamily="66" charset="0"/>
              </a:rPr>
              <a:t>the Linked </a:t>
            </a:r>
            <a:r>
              <a:rPr lang="en-US" b="1" dirty="0" smtClean="0">
                <a:latin typeface="Bradley Hand ITC" panose="03070402050302030203" pitchFamily="66" charset="0"/>
              </a:rPr>
              <a:t>List?</a:t>
            </a:r>
            <a:endParaRPr lang="en-IN" b="1" dirty="0">
              <a:latin typeface="Bradley Hand ITC" panose="03070402050302030203" pitchFamily="66" charset="0"/>
            </a:endParaRPr>
          </a:p>
        </p:txBody>
      </p:sp>
      <p:sp>
        <p:nvSpPr>
          <p:cNvPr id="4" name="TextBox 3"/>
          <p:cNvSpPr txBox="1"/>
          <p:nvPr/>
        </p:nvSpPr>
        <p:spPr>
          <a:xfrm>
            <a:off x="545910" y="2060812"/>
            <a:ext cx="11128613" cy="2245360"/>
          </a:xfrm>
          <a:prstGeom prst="rect">
            <a:avLst/>
          </a:prstGeom>
          <a:noFill/>
        </p:spPr>
        <p:txBody>
          <a:bodyPr wrap="square" rtlCol="0">
            <a:spAutoFit/>
          </a:bodyPr>
          <a:lstStyle/>
          <a:p>
            <a:pPr marL="342900" indent="-342900">
              <a:buAutoNum type="arabicPeriod"/>
            </a:pPr>
            <a:r>
              <a:rPr lang="en-IN" sz="2800" dirty="0" smtClean="0">
                <a:latin typeface="Cambria Math" panose="02040503050406030204" charset="0"/>
                <a:ea typeface="Artifakt Element Book" panose="020B0503050000020004" pitchFamily="34" charset="0"/>
                <a:cs typeface="Cambria Math" panose="02040503050406030204" charset="0"/>
              </a:rPr>
              <a:t>Seamless Track Sequencing</a:t>
            </a:r>
            <a:endParaRPr lang="en-IN" sz="2800" dirty="0" smtClean="0">
              <a:latin typeface="Cambria Math" panose="02040503050406030204" charset="0"/>
              <a:ea typeface="Artifakt Element Book" panose="020B0503050000020004" pitchFamily="34" charset="0"/>
              <a:cs typeface="Cambria Math" panose="02040503050406030204" charset="0"/>
            </a:endParaRPr>
          </a:p>
          <a:p>
            <a:pPr marL="342900" indent="-342900">
              <a:buAutoNum type="arabicPeriod"/>
            </a:pPr>
            <a:endParaRPr lang="en-IN" sz="2800" dirty="0" smtClean="0">
              <a:latin typeface="Cambria Math" panose="02040503050406030204" charset="0"/>
              <a:ea typeface="Artifakt Element Book" panose="020B0503050000020004" pitchFamily="34" charset="0"/>
              <a:cs typeface="Cambria Math" panose="02040503050406030204" charset="0"/>
            </a:endParaRPr>
          </a:p>
          <a:p>
            <a:pPr marL="342900" indent="-342900">
              <a:buAutoNum type="arabicPeriod"/>
            </a:pPr>
            <a:r>
              <a:rPr lang="en-IN" sz="2800" dirty="0" smtClean="0">
                <a:latin typeface="Cambria Math" panose="02040503050406030204" charset="0"/>
                <a:ea typeface="Artifakt Element Book" panose="020B0503050000020004" pitchFamily="34" charset="0"/>
                <a:cs typeface="Cambria Math" panose="02040503050406030204" charset="0"/>
              </a:rPr>
              <a:t>Zero-Lag Playlist Updates aka Dynamic Memory Efficiency</a:t>
            </a:r>
            <a:endParaRPr lang="en-IN" sz="2800" dirty="0" smtClean="0">
              <a:latin typeface="Cambria Math" panose="02040503050406030204" charset="0"/>
              <a:ea typeface="Artifakt Element Book" panose="020B0503050000020004" pitchFamily="34" charset="0"/>
              <a:cs typeface="Cambria Math" panose="02040503050406030204" charset="0"/>
            </a:endParaRPr>
          </a:p>
          <a:p>
            <a:pPr marL="342900" indent="-342900">
              <a:buAutoNum type="arabicPeriod"/>
            </a:pPr>
            <a:endParaRPr lang="en-IN" sz="2800" dirty="0" smtClean="0">
              <a:latin typeface="Cambria Math" panose="02040503050406030204" charset="0"/>
              <a:ea typeface="Artifakt Element Book" panose="020B0503050000020004" pitchFamily="34" charset="0"/>
              <a:cs typeface="Cambria Math" panose="02040503050406030204" charset="0"/>
            </a:endParaRPr>
          </a:p>
          <a:p>
            <a:pPr marL="342900" indent="-342900">
              <a:buAutoNum type="arabicPeriod"/>
            </a:pPr>
            <a:r>
              <a:rPr lang="en-IN" sz="2800" dirty="0" smtClean="0">
                <a:latin typeface="Cambria Math" panose="02040503050406030204" charset="0"/>
                <a:ea typeface="Artifakt Element Book" panose="020B0503050000020004" pitchFamily="34" charset="0"/>
                <a:cs typeface="Cambria Math" panose="02040503050406030204" charset="0"/>
              </a:rPr>
              <a:t>Instant Insertion &amp; Deletion</a:t>
            </a:r>
            <a:endParaRPr lang="en-IN" sz="2800" dirty="0">
              <a:latin typeface="Cambria Math" panose="02040503050406030204" charset="0"/>
              <a:ea typeface="Artifakt Element Book" panose="020B0503050000020004" pitchFamily="34" charset="0"/>
              <a:cs typeface="Cambria Math" panose="02040503050406030204" charset="0"/>
            </a:endParaRPr>
          </a:p>
        </p:txBody>
      </p:sp>
    </p:spTree>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Bradley Hand ITC" panose="03070402050302030203" pitchFamily="66" charset="0"/>
              </a:rPr>
              <a:t>Operations on doubly linked list</a:t>
            </a:r>
            <a:endParaRPr lang="en-IN" b="1" dirty="0">
              <a:latin typeface="Bradley Hand ITC" panose="03070402050302030203" pitchFamily="66" charset="0"/>
            </a:endParaRPr>
          </a:p>
        </p:txBody>
      </p:sp>
      <p:sp>
        <p:nvSpPr>
          <p:cNvPr id="3" name="TextBox 2"/>
          <p:cNvSpPr txBox="1"/>
          <p:nvPr/>
        </p:nvSpPr>
        <p:spPr>
          <a:xfrm>
            <a:off x="873457" y="2137923"/>
            <a:ext cx="10480343" cy="2676525"/>
          </a:xfrm>
          <a:prstGeom prst="rect">
            <a:avLst/>
          </a:prstGeom>
          <a:noFill/>
        </p:spPr>
        <p:txBody>
          <a:bodyPr wrap="square" rtlCol="0">
            <a:spAutoFit/>
          </a:bodyPr>
          <a:lstStyle/>
          <a:p>
            <a:r>
              <a:rPr lang="en-US" dirty="0" smtClean="0"/>
              <a:t> </a:t>
            </a:r>
            <a:r>
              <a:rPr lang="en-US" sz="2800" dirty="0" smtClean="0">
                <a:latin typeface="Artifakt Element" panose="020B0503050000020004" pitchFamily="34" charset="0"/>
                <a:ea typeface="Artifakt Element" panose="020B0503050000020004" pitchFamily="34" charset="0"/>
              </a:rPr>
              <a:t>1. </a:t>
            </a:r>
            <a:r>
              <a:rPr lang="en-US" sz="2800" dirty="0" smtClean="0">
                <a:latin typeface="Cambria Math" panose="02040503050406030204" charset="0"/>
                <a:ea typeface="Artifakt Element" panose="020B0503050000020004" pitchFamily="34" charset="0"/>
                <a:cs typeface="Cambria Math" panose="02040503050406030204" charset="0"/>
              </a:rPr>
              <a:t>Creation of list</a:t>
            </a:r>
            <a:endParaRPr lang="en-US" sz="2800" dirty="0" smtClean="0">
              <a:latin typeface="Cambria Math" panose="02040503050406030204" charset="0"/>
              <a:ea typeface="Artifakt Element" panose="020B0503050000020004" pitchFamily="34" charset="0"/>
              <a:cs typeface="Cambria Math" panose="02040503050406030204" charset="0"/>
            </a:endParaRPr>
          </a:p>
          <a:p>
            <a:r>
              <a:rPr lang="en-US" sz="2800" dirty="0" smtClean="0">
                <a:latin typeface="Cambria Math" panose="02040503050406030204" charset="0"/>
                <a:ea typeface="Artifakt Element" panose="020B0503050000020004" pitchFamily="34" charset="0"/>
                <a:cs typeface="Cambria Math" panose="02040503050406030204" charset="0"/>
              </a:rPr>
              <a:t> 2. Traversal of list</a:t>
            </a:r>
            <a:endParaRPr lang="en-US" sz="2800" dirty="0" smtClean="0">
              <a:latin typeface="Cambria Math" panose="02040503050406030204" charset="0"/>
              <a:ea typeface="Artifakt Element" panose="020B0503050000020004" pitchFamily="34" charset="0"/>
              <a:cs typeface="Cambria Math" panose="02040503050406030204" charset="0"/>
            </a:endParaRPr>
          </a:p>
          <a:p>
            <a:r>
              <a:rPr lang="en-US" sz="2800" dirty="0">
                <a:latin typeface="Cambria Math" panose="02040503050406030204" charset="0"/>
                <a:ea typeface="Artifakt Element" panose="020B0503050000020004" pitchFamily="34" charset="0"/>
                <a:cs typeface="Cambria Math" panose="02040503050406030204" charset="0"/>
              </a:rPr>
              <a:t> </a:t>
            </a:r>
            <a:r>
              <a:rPr lang="en-US" sz="2800" dirty="0" smtClean="0">
                <a:latin typeface="Cambria Math" panose="02040503050406030204" charset="0"/>
                <a:ea typeface="Artifakt Element" panose="020B0503050000020004" pitchFamily="34" charset="0"/>
                <a:cs typeface="Cambria Math" panose="02040503050406030204" charset="0"/>
              </a:rPr>
              <a:t>3. Inserting a node in the middle </a:t>
            </a:r>
            <a:endParaRPr lang="en-US" sz="2800" dirty="0" smtClean="0">
              <a:latin typeface="Cambria Math" panose="02040503050406030204" charset="0"/>
              <a:ea typeface="Artifakt Element" panose="020B0503050000020004" pitchFamily="34" charset="0"/>
              <a:cs typeface="Cambria Math" panose="02040503050406030204" charset="0"/>
            </a:endParaRPr>
          </a:p>
          <a:p>
            <a:r>
              <a:rPr lang="en-US" sz="2800" dirty="0">
                <a:latin typeface="Cambria Math" panose="02040503050406030204" charset="0"/>
                <a:ea typeface="Artifakt Element" panose="020B0503050000020004" pitchFamily="34" charset="0"/>
                <a:cs typeface="Cambria Math" panose="02040503050406030204" charset="0"/>
              </a:rPr>
              <a:t> </a:t>
            </a:r>
            <a:r>
              <a:rPr lang="en-US" sz="2800" dirty="0" smtClean="0">
                <a:latin typeface="Cambria Math" panose="02040503050406030204" charset="0"/>
                <a:ea typeface="Artifakt Element" panose="020B0503050000020004" pitchFamily="34" charset="0"/>
                <a:cs typeface="Cambria Math" panose="02040503050406030204" charset="0"/>
              </a:rPr>
              <a:t>4. Deleting a node at any position</a:t>
            </a:r>
            <a:endParaRPr lang="en-US" sz="2800" dirty="0" smtClean="0">
              <a:latin typeface="Cambria Math" panose="02040503050406030204" charset="0"/>
              <a:ea typeface="Artifakt Element" panose="020B0503050000020004" pitchFamily="34" charset="0"/>
              <a:cs typeface="Cambria Math" panose="02040503050406030204" charset="0"/>
            </a:endParaRPr>
          </a:p>
          <a:p>
            <a:r>
              <a:rPr lang="en-US" sz="2800" dirty="0">
                <a:latin typeface="Cambria Math" panose="02040503050406030204" charset="0"/>
                <a:ea typeface="Artifakt Element" panose="020B0503050000020004" pitchFamily="34" charset="0"/>
                <a:cs typeface="Cambria Math" panose="02040503050406030204" charset="0"/>
              </a:rPr>
              <a:t> </a:t>
            </a:r>
            <a:r>
              <a:rPr lang="en-US" sz="2800" dirty="0" smtClean="0">
                <a:latin typeface="Cambria Math" panose="02040503050406030204" charset="0"/>
                <a:ea typeface="Artifakt Element" panose="020B0503050000020004" pitchFamily="34" charset="0"/>
                <a:cs typeface="Cambria Math" panose="02040503050406030204" charset="0"/>
              </a:rPr>
              <a:t>5. Reversal of the list</a:t>
            </a:r>
            <a:endParaRPr lang="en-US" sz="2800" dirty="0" smtClean="0">
              <a:latin typeface="Cambria Math" panose="02040503050406030204" charset="0"/>
              <a:ea typeface="Artifakt Element" panose="020B0503050000020004" pitchFamily="34" charset="0"/>
              <a:cs typeface="Cambria Math" panose="02040503050406030204" charset="0"/>
            </a:endParaRPr>
          </a:p>
          <a:p>
            <a:r>
              <a:rPr lang="en-US" sz="2800" dirty="0">
                <a:latin typeface="Cambria Math" panose="02040503050406030204" charset="0"/>
                <a:ea typeface="Artifakt Element" panose="020B0503050000020004" pitchFamily="34" charset="0"/>
                <a:cs typeface="Cambria Math" panose="02040503050406030204" charset="0"/>
              </a:rPr>
              <a:t> </a:t>
            </a:r>
            <a:r>
              <a:rPr lang="en-US" sz="2800" dirty="0" smtClean="0">
                <a:latin typeface="Cambria Math" panose="02040503050406030204" charset="0"/>
                <a:ea typeface="Artifakt Element" panose="020B0503050000020004" pitchFamily="34" charset="0"/>
                <a:cs typeface="Cambria Math" panose="02040503050406030204" charset="0"/>
              </a:rPr>
              <a:t>6. Sorting of the list</a:t>
            </a:r>
            <a:endParaRPr lang="en-IN" sz="2800" dirty="0">
              <a:latin typeface="Cambria Math" panose="02040503050406030204" charset="0"/>
              <a:ea typeface="Artifakt Element" panose="020B0503050000020004" pitchFamily="34" charset="0"/>
              <a:cs typeface="Cambria Math" panose="02040503050406030204" charset="0"/>
            </a:endParaRPr>
          </a:p>
        </p:txBody>
      </p:sp>
    </p:spTree>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4262" y="640386"/>
            <a:ext cx="8980226" cy="769441"/>
          </a:xfrm>
          <a:prstGeom prst="rect">
            <a:avLst/>
          </a:prstGeom>
          <a:noFill/>
        </p:spPr>
        <p:txBody>
          <a:bodyPr wrap="square" rtlCol="0">
            <a:spAutoFit/>
          </a:bodyPr>
          <a:lstStyle/>
          <a:p>
            <a:r>
              <a:rPr lang="en-US" b="1" dirty="0" smtClean="0"/>
              <a:t> </a:t>
            </a:r>
            <a:r>
              <a:rPr lang="en-US" sz="4400" b="1" dirty="0" smtClean="0">
                <a:latin typeface="Bradley Hand ITC" panose="03070402050302030203" pitchFamily="66" charset="0"/>
              </a:rPr>
              <a:t>Op 1: Creation of doubly linked list</a:t>
            </a:r>
            <a:endParaRPr lang="en-IN" sz="4400" b="1" dirty="0">
              <a:latin typeface="Bradley Hand ITC" panose="03070402050302030203" pitchFamily="66" charset="0"/>
            </a:endParaRPr>
          </a:p>
        </p:txBody>
      </p:sp>
      <p:sp>
        <p:nvSpPr>
          <p:cNvPr id="3" name="TextBox 2"/>
          <p:cNvSpPr txBox="1"/>
          <p:nvPr/>
        </p:nvSpPr>
        <p:spPr>
          <a:xfrm>
            <a:off x="3384646" y="4462820"/>
            <a:ext cx="5322627" cy="369332"/>
          </a:xfrm>
          <a:prstGeom prst="rect">
            <a:avLst/>
          </a:prstGeom>
          <a:noFill/>
        </p:spPr>
        <p:txBody>
          <a:bodyPr wrap="square" rtlCol="0">
            <a:spAutoFit/>
          </a:bodyPr>
          <a:lstStyle/>
          <a:p>
            <a:r>
              <a:rPr lang="en-US" dirty="0" smtClean="0"/>
              <a:t> </a:t>
            </a:r>
            <a:endParaRPr lang="en-IN" dirty="0"/>
          </a:p>
        </p:txBody>
      </p:sp>
      <p:sp>
        <p:nvSpPr>
          <p:cNvPr id="5" name="Flowchart: Predefined Process 4"/>
          <p:cNvSpPr/>
          <p:nvPr/>
        </p:nvSpPr>
        <p:spPr>
          <a:xfrm>
            <a:off x="3179930" y="4012444"/>
            <a:ext cx="1078174" cy="819708"/>
          </a:xfrm>
          <a:prstGeom prst="flowChartPredefinedProcess">
            <a:avLst/>
          </a:prstGeom>
          <a:solidFill>
            <a:srgbClr val="FFFF99"/>
          </a:solid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6" name="TextBox 5"/>
          <p:cNvSpPr txBox="1"/>
          <p:nvPr/>
        </p:nvSpPr>
        <p:spPr>
          <a:xfrm>
            <a:off x="1900454" y="4213538"/>
            <a:ext cx="1569492" cy="369332"/>
          </a:xfrm>
          <a:prstGeom prst="rect">
            <a:avLst/>
          </a:prstGeom>
          <a:noFill/>
        </p:spPr>
        <p:txBody>
          <a:bodyPr wrap="square" rtlCol="0">
            <a:spAutoFit/>
          </a:bodyPr>
          <a:lstStyle/>
          <a:p>
            <a:r>
              <a:rPr lang="en-US" dirty="0" smtClean="0"/>
              <a:t>     |------------</a:t>
            </a:r>
            <a:endParaRPr lang="en-IN" dirty="0"/>
          </a:p>
        </p:txBody>
      </p:sp>
      <p:sp>
        <p:nvSpPr>
          <p:cNvPr id="7" name="TextBox 6"/>
          <p:cNvSpPr txBox="1"/>
          <p:nvPr/>
        </p:nvSpPr>
        <p:spPr>
          <a:xfrm>
            <a:off x="5472754" y="4217161"/>
            <a:ext cx="1310185" cy="369332"/>
          </a:xfrm>
          <a:prstGeom prst="rect">
            <a:avLst/>
          </a:prstGeom>
          <a:noFill/>
        </p:spPr>
        <p:txBody>
          <a:bodyPr wrap="square" rtlCol="0">
            <a:spAutoFit/>
          </a:bodyPr>
          <a:lstStyle/>
          <a:p>
            <a:r>
              <a:rPr lang="en-US" dirty="0" smtClean="0"/>
              <a:t> </a:t>
            </a:r>
            <a:endParaRPr lang="en-IN" dirty="0"/>
          </a:p>
        </p:txBody>
      </p:sp>
      <p:sp>
        <p:nvSpPr>
          <p:cNvPr id="8" name="Flowchart: Predefined Process 7"/>
          <p:cNvSpPr/>
          <p:nvPr/>
        </p:nvSpPr>
        <p:spPr>
          <a:xfrm>
            <a:off x="5636528" y="4012444"/>
            <a:ext cx="948518" cy="819708"/>
          </a:xfrm>
          <a:prstGeom prst="flowChartPredefinedProcess">
            <a:avLst/>
          </a:prstGeom>
          <a:solidFill>
            <a:srgbClr val="FFFF99"/>
          </a:solid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0" name="Flowchart: Predefined Process 9"/>
          <p:cNvSpPr/>
          <p:nvPr/>
        </p:nvSpPr>
        <p:spPr>
          <a:xfrm>
            <a:off x="7997589" y="4012444"/>
            <a:ext cx="948518" cy="819708"/>
          </a:xfrm>
          <a:prstGeom prst="flowChartPredefinedProcess">
            <a:avLst/>
          </a:prstGeom>
          <a:solidFill>
            <a:srgbClr val="FFFF99"/>
          </a:solid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1" name="TextBox 10"/>
          <p:cNvSpPr txBox="1"/>
          <p:nvPr/>
        </p:nvSpPr>
        <p:spPr>
          <a:xfrm>
            <a:off x="4060211" y="4012444"/>
            <a:ext cx="1774209" cy="369332"/>
          </a:xfrm>
          <a:prstGeom prst="rect">
            <a:avLst/>
          </a:prstGeom>
          <a:noFill/>
        </p:spPr>
        <p:txBody>
          <a:bodyPr wrap="square" rtlCol="0">
            <a:spAutoFit/>
          </a:bodyPr>
          <a:lstStyle/>
          <a:p>
            <a:r>
              <a:rPr lang="en-US" dirty="0" smtClean="0"/>
              <a:t>  ------------------&gt;</a:t>
            </a:r>
            <a:endParaRPr lang="en-IN" dirty="0"/>
          </a:p>
        </p:txBody>
      </p:sp>
      <p:sp>
        <p:nvSpPr>
          <p:cNvPr id="13" name="TextBox 12"/>
          <p:cNvSpPr txBox="1"/>
          <p:nvPr/>
        </p:nvSpPr>
        <p:spPr>
          <a:xfrm>
            <a:off x="6387154" y="4012444"/>
            <a:ext cx="1774209" cy="369332"/>
          </a:xfrm>
          <a:prstGeom prst="rect">
            <a:avLst/>
          </a:prstGeom>
          <a:noFill/>
        </p:spPr>
        <p:txBody>
          <a:bodyPr wrap="square" rtlCol="0">
            <a:spAutoFit/>
          </a:bodyPr>
          <a:lstStyle/>
          <a:p>
            <a:r>
              <a:rPr lang="en-US" dirty="0" smtClean="0"/>
              <a:t>  ------------------&gt;</a:t>
            </a:r>
            <a:endParaRPr lang="en-IN" dirty="0"/>
          </a:p>
        </p:txBody>
      </p:sp>
      <p:sp>
        <p:nvSpPr>
          <p:cNvPr id="16" name="TextBox 15"/>
          <p:cNvSpPr txBox="1"/>
          <p:nvPr/>
        </p:nvSpPr>
        <p:spPr>
          <a:xfrm>
            <a:off x="4077271" y="4422298"/>
            <a:ext cx="1774209" cy="369332"/>
          </a:xfrm>
          <a:prstGeom prst="rect">
            <a:avLst/>
          </a:prstGeom>
          <a:noFill/>
        </p:spPr>
        <p:txBody>
          <a:bodyPr wrap="square" rtlCol="0">
            <a:spAutoFit/>
          </a:bodyPr>
          <a:lstStyle/>
          <a:p>
            <a:r>
              <a:rPr lang="en-US" dirty="0" smtClean="0"/>
              <a:t>  &lt;------------------</a:t>
            </a:r>
            <a:endParaRPr lang="en-IN" dirty="0"/>
          </a:p>
        </p:txBody>
      </p:sp>
      <p:sp>
        <p:nvSpPr>
          <p:cNvPr id="18" name="TextBox 17"/>
          <p:cNvSpPr txBox="1"/>
          <p:nvPr/>
        </p:nvSpPr>
        <p:spPr>
          <a:xfrm>
            <a:off x="6414452" y="4414632"/>
            <a:ext cx="1774209" cy="369332"/>
          </a:xfrm>
          <a:prstGeom prst="rect">
            <a:avLst/>
          </a:prstGeom>
          <a:noFill/>
        </p:spPr>
        <p:txBody>
          <a:bodyPr wrap="square" rtlCol="0">
            <a:spAutoFit/>
          </a:bodyPr>
          <a:lstStyle/>
          <a:p>
            <a:r>
              <a:rPr lang="en-US" dirty="0" smtClean="0"/>
              <a:t>  &lt;------------------</a:t>
            </a:r>
            <a:endParaRPr lang="en-IN" dirty="0"/>
          </a:p>
        </p:txBody>
      </p:sp>
      <p:sp>
        <p:nvSpPr>
          <p:cNvPr id="20" name="TextBox 19"/>
          <p:cNvSpPr txBox="1"/>
          <p:nvPr/>
        </p:nvSpPr>
        <p:spPr>
          <a:xfrm>
            <a:off x="8529852" y="4213538"/>
            <a:ext cx="1569492" cy="369332"/>
          </a:xfrm>
          <a:prstGeom prst="rect">
            <a:avLst/>
          </a:prstGeom>
          <a:noFill/>
        </p:spPr>
        <p:txBody>
          <a:bodyPr wrap="square" rtlCol="0">
            <a:spAutoFit/>
          </a:bodyPr>
          <a:lstStyle/>
          <a:p>
            <a:r>
              <a:rPr lang="en-US" dirty="0" smtClean="0"/>
              <a:t>      -----------|</a:t>
            </a:r>
            <a:endParaRPr lang="en-IN" dirty="0"/>
          </a:p>
        </p:txBody>
      </p:sp>
      <p:sp>
        <p:nvSpPr>
          <p:cNvPr id="21" name="TextBox 20"/>
          <p:cNvSpPr txBox="1"/>
          <p:nvPr/>
        </p:nvSpPr>
        <p:spPr>
          <a:xfrm>
            <a:off x="4565880" y="3868300"/>
            <a:ext cx="595484" cy="369332"/>
          </a:xfrm>
          <a:prstGeom prst="rect">
            <a:avLst/>
          </a:prstGeom>
          <a:noFill/>
        </p:spPr>
        <p:txBody>
          <a:bodyPr wrap="none" rtlCol="0">
            <a:spAutoFit/>
          </a:bodyPr>
          <a:lstStyle/>
          <a:p>
            <a:r>
              <a:rPr lang="en-US" dirty="0"/>
              <a:t>n</a:t>
            </a:r>
            <a:r>
              <a:rPr lang="en-US" dirty="0" smtClean="0"/>
              <a:t>ext</a:t>
            </a:r>
            <a:endParaRPr lang="en-US" dirty="0" smtClean="0"/>
          </a:p>
        </p:txBody>
      </p:sp>
      <p:sp>
        <p:nvSpPr>
          <p:cNvPr id="23" name="TextBox 22"/>
          <p:cNvSpPr txBox="1"/>
          <p:nvPr/>
        </p:nvSpPr>
        <p:spPr>
          <a:xfrm>
            <a:off x="6926237" y="3868300"/>
            <a:ext cx="595484" cy="369332"/>
          </a:xfrm>
          <a:prstGeom prst="rect">
            <a:avLst/>
          </a:prstGeom>
          <a:noFill/>
        </p:spPr>
        <p:txBody>
          <a:bodyPr wrap="none" rtlCol="0">
            <a:spAutoFit/>
          </a:bodyPr>
          <a:lstStyle/>
          <a:p>
            <a:r>
              <a:rPr lang="en-US" dirty="0"/>
              <a:t>n</a:t>
            </a:r>
            <a:r>
              <a:rPr lang="en-US" dirty="0" smtClean="0"/>
              <a:t>ext</a:t>
            </a:r>
            <a:endParaRPr lang="en-US" dirty="0" smtClean="0"/>
          </a:p>
        </p:txBody>
      </p:sp>
      <p:sp>
        <p:nvSpPr>
          <p:cNvPr id="25" name="TextBox 24"/>
          <p:cNvSpPr txBox="1"/>
          <p:nvPr/>
        </p:nvSpPr>
        <p:spPr>
          <a:xfrm>
            <a:off x="4577349" y="4543864"/>
            <a:ext cx="602088" cy="369332"/>
          </a:xfrm>
          <a:prstGeom prst="rect">
            <a:avLst/>
          </a:prstGeom>
          <a:noFill/>
        </p:spPr>
        <p:txBody>
          <a:bodyPr wrap="none" rtlCol="0">
            <a:spAutoFit/>
          </a:bodyPr>
          <a:lstStyle/>
          <a:p>
            <a:r>
              <a:rPr lang="en-US" dirty="0"/>
              <a:t>p</a:t>
            </a:r>
            <a:r>
              <a:rPr lang="en-US" dirty="0" smtClean="0"/>
              <a:t>rev</a:t>
            </a:r>
            <a:endParaRPr lang="en-US" dirty="0" smtClean="0"/>
          </a:p>
        </p:txBody>
      </p:sp>
      <p:sp>
        <p:nvSpPr>
          <p:cNvPr id="27" name="TextBox 26"/>
          <p:cNvSpPr txBox="1"/>
          <p:nvPr/>
        </p:nvSpPr>
        <p:spPr>
          <a:xfrm>
            <a:off x="6964804" y="4582870"/>
            <a:ext cx="602088" cy="369332"/>
          </a:xfrm>
          <a:prstGeom prst="rect">
            <a:avLst/>
          </a:prstGeom>
          <a:noFill/>
        </p:spPr>
        <p:txBody>
          <a:bodyPr wrap="none" rtlCol="0">
            <a:spAutoFit/>
          </a:bodyPr>
          <a:lstStyle/>
          <a:p>
            <a:r>
              <a:rPr lang="en-US" dirty="0"/>
              <a:t>p</a:t>
            </a:r>
            <a:r>
              <a:rPr lang="en-US" dirty="0" smtClean="0"/>
              <a:t>rev</a:t>
            </a:r>
            <a:endParaRPr lang="en-US" dirty="0" smtClean="0"/>
          </a:p>
        </p:txBody>
      </p:sp>
      <p:sp>
        <p:nvSpPr>
          <p:cNvPr id="28" name="TextBox 27"/>
          <p:cNvSpPr txBox="1"/>
          <p:nvPr/>
        </p:nvSpPr>
        <p:spPr>
          <a:xfrm>
            <a:off x="3099494" y="4828109"/>
            <a:ext cx="813043" cy="646331"/>
          </a:xfrm>
          <a:prstGeom prst="rect">
            <a:avLst/>
          </a:prstGeom>
          <a:noFill/>
        </p:spPr>
        <p:txBody>
          <a:bodyPr wrap="none" rtlCol="0">
            <a:spAutoFit/>
          </a:bodyPr>
          <a:lstStyle/>
          <a:p>
            <a:r>
              <a:rPr lang="en-US" dirty="0" smtClean="0"/>
              <a:t>head |</a:t>
            </a:r>
            <a:endParaRPr lang="en-US" dirty="0" smtClean="0"/>
          </a:p>
          <a:p>
            <a:endParaRPr lang="en-IN" dirty="0"/>
          </a:p>
        </p:txBody>
      </p:sp>
      <p:sp>
        <p:nvSpPr>
          <p:cNvPr id="33" name="TextBox 32"/>
          <p:cNvSpPr txBox="1"/>
          <p:nvPr/>
        </p:nvSpPr>
        <p:spPr>
          <a:xfrm>
            <a:off x="3612455" y="4783964"/>
            <a:ext cx="300082" cy="369332"/>
          </a:xfrm>
          <a:prstGeom prst="rect">
            <a:avLst/>
          </a:prstGeom>
          <a:noFill/>
        </p:spPr>
        <p:txBody>
          <a:bodyPr wrap="none" rtlCol="0">
            <a:spAutoFit/>
          </a:bodyPr>
          <a:lstStyle/>
          <a:p>
            <a:r>
              <a:rPr lang="en-US" dirty="0" smtClean="0"/>
              <a:t>^</a:t>
            </a:r>
            <a:endParaRPr lang="en-IN" dirty="0"/>
          </a:p>
        </p:txBody>
      </p:sp>
      <p:sp>
        <p:nvSpPr>
          <p:cNvPr id="36" name="Rectangle 2"/>
          <p:cNvSpPr>
            <a:spLocks noChangeArrowheads="1"/>
          </p:cNvSpPr>
          <p:nvPr/>
        </p:nvSpPr>
        <p:spPr bwMode="auto">
          <a:xfrm>
            <a:off x="291153" y="2011411"/>
            <a:ext cx="11555103" cy="1014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smtClean="0">
                <a:ln>
                  <a:noFill/>
                </a:ln>
                <a:solidFill>
                  <a:schemeClr val="tx1"/>
                </a:solidFill>
                <a:effectLst/>
                <a:latin typeface="Cambria Math" panose="02040503050406030204" charset="0"/>
                <a:ea typeface="Artifakt Element Book" panose="020B0503050000020004" pitchFamily="34" charset="0"/>
                <a:cs typeface="Cambria Math" panose="02040503050406030204" charset="0"/>
              </a:rPr>
              <a:t>Creating a doubly linked list involves initializing a head pointer and defining nodes that contain data alongside both next and prev pointers. When adding nodes, you must carefully update both pointer directions to maintain the bidirectional chain. </a:t>
            </a:r>
            <a:endParaRPr kumimoji="0" lang="en-US" altLang="en-US" sz="2000" b="0" i="0" u="none" strike="noStrike" cap="none" normalizeH="0" baseline="0" dirty="0" smtClean="0">
              <a:ln>
                <a:noFill/>
              </a:ln>
              <a:solidFill>
                <a:schemeClr val="tx1"/>
              </a:solidFill>
              <a:effectLst/>
              <a:latin typeface="Cambria Math" panose="02040503050406030204" charset="0"/>
              <a:ea typeface="Artifakt Element Book" panose="020B0503050000020004" pitchFamily="34" charset="0"/>
              <a:cs typeface="Cambria Math" panose="02040503050406030204" charset="0"/>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8" grpId="0" animBg="1"/>
      <p:bldP spid="10" grpId="0" animBg="1"/>
      <p:bldP spid="11" grpId="0"/>
      <p:bldP spid="13" grpId="0"/>
      <p:bldP spid="16" grpId="0"/>
      <p:bldP spid="18" grpId="0"/>
      <p:bldP spid="20" grpId="0"/>
      <p:bldP spid="21" grpId="0"/>
      <p:bldP spid="23" grpId="0"/>
      <p:bldP spid="25" grpId="0"/>
      <p:bldP spid="27" grpId="0"/>
      <p:bldP spid="28" grpId="0"/>
      <p:bldP spid="3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4510" y="122172"/>
            <a:ext cx="10515600" cy="1325563"/>
          </a:xfrm>
        </p:spPr>
        <p:txBody>
          <a:bodyPr/>
          <a:lstStyle/>
          <a:p>
            <a:r>
              <a:rPr lang="en-US" b="1" dirty="0" smtClean="0">
                <a:latin typeface="Bradley Hand ITC" panose="03070402050302030203" pitchFamily="66" charset="0"/>
              </a:rPr>
              <a:t>Op 2.  Traversal of linked list</a:t>
            </a:r>
            <a:endParaRPr lang="en-IN" b="1" dirty="0">
              <a:latin typeface="Bradley Hand ITC" panose="03070402050302030203" pitchFamily="66" charset="0"/>
            </a:endParaRPr>
          </a:p>
        </p:txBody>
      </p:sp>
      <p:sp>
        <p:nvSpPr>
          <p:cNvPr id="4" name="TextBox 3"/>
          <p:cNvSpPr txBox="1"/>
          <p:nvPr/>
        </p:nvSpPr>
        <p:spPr>
          <a:xfrm>
            <a:off x="2634017" y="2333758"/>
            <a:ext cx="5322627" cy="369332"/>
          </a:xfrm>
          <a:prstGeom prst="rect">
            <a:avLst/>
          </a:prstGeom>
          <a:noFill/>
        </p:spPr>
        <p:txBody>
          <a:bodyPr wrap="square" rtlCol="0">
            <a:spAutoFit/>
          </a:bodyPr>
          <a:lstStyle/>
          <a:p>
            <a:r>
              <a:rPr lang="en-US" dirty="0" smtClean="0"/>
              <a:t> </a:t>
            </a:r>
            <a:endParaRPr lang="en-IN" dirty="0"/>
          </a:p>
        </p:txBody>
      </p:sp>
      <p:sp>
        <p:nvSpPr>
          <p:cNvPr id="5" name="Flowchart: Predefined Process 4"/>
          <p:cNvSpPr/>
          <p:nvPr/>
        </p:nvSpPr>
        <p:spPr>
          <a:xfrm>
            <a:off x="2429301" y="1883382"/>
            <a:ext cx="1078174" cy="819708"/>
          </a:xfrm>
          <a:prstGeom prst="flowChartPredefinedProcess">
            <a:avLst/>
          </a:prstGeom>
          <a:solidFill>
            <a:srgbClr val="FFFF99"/>
          </a:solid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6" name="TextBox 5"/>
          <p:cNvSpPr txBox="1"/>
          <p:nvPr/>
        </p:nvSpPr>
        <p:spPr>
          <a:xfrm>
            <a:off x="4722125" y="2088099"/>
            <a:ext cx="1310185" cy="369332"/>
          </a:xfrm>
          <a:prstGeom prst="rect">
            <a:avLst/>
          </a:prstGeom>
          <a:noFill/>
        </p:spPr>
        <p:txBody>
          <a:bodyPr wrap="square" rtlCol="0">
            <a:spAutoFit/>
          </a:bodyPr>
          <a:lstStyle/>
          <a:p>
            <a:r>
              <a:rPr lang="en-US" dirty="0" smtClean="0"/>
              <a:t> </a:t>
            </a:r>
            <a:endParaRPr lang="en-IN" dirty="0"/>
          </a:p>
        </p:txBody>
      </p:sp>
      <p:sp>
        <p:nvSpPr>
          <p:cNvPr id="7" name="Flowchart: Predefined Process 6"/>
          <p:cNvSpPr/>
          <p:nvPr/>
        </p:nvSpPr>
        <p:spPr>
          <a:xfrm>
            <a:off x="4885899" y="1883382"/>
            <a:ext cx="948518" cy="819708"/>
          </a:xfrm>
          <a:prstGeom prst="flowChartPredefinedProcess">
            <a:avLst/>
          </a:prstGeom>
          <a:solidFill>
            <a:srgbClr val="FFFF99"/>
          </a:solid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8" name="Flowchart: Predefined Process 7"/>
          <p:cNvSpPr/>
          <p:nvPr/>
        </p:nvSpPr>
        <p:spPr>
          <a:xfrm>
            <a:off x="7246960" y="1883382"/>
            <a:ext cx="948518" cy="819708"/>
          </a:xfrm>
          <a:prstGeom prst="flowChartPredefinedProcess">
            <a:avLst/>
          </a:prstGeom>
          <a:solidFill>
            <a:srgbClr val="FFFF99"/>
          </a:solid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9" name="TextBox 8"/>
          <p:cNvSpPr txBox="1"/>
          <p:nvPr/>
        </p:nvSpPr>
        <p:spPr>
          <a:xfrm>
            <a:off x="3309582" y="1883382"/>
            <a:ext cx="1774209" cy="369332"/>
          </a:xfrm>
          <a:prstGeom prst="rect">
            <a:avLst/>
          </a:prstGeom>
          <a:noFill/>
        </p:spPr>
        <p:txBody>
          <a:bodyPr wrap="square" rtlCol="0">
            <a:spAutoFit/>
          </a:bodyPr>
          <a:lstStyle/>
          <a:p>
            <a:r>
              <a:rPr lang="en-US" dirty="0" smtClean="0"/>
              <a:t>  ------------------&gt;</a:t>
            </a:r>
            <a:endParaRPr lang="en-IN" dirty="0"/>
          </a:p>
        </p:txBody>
      </p:sp>
      <p:sp>
        <p:nvSpPr>
          <p:cNvPr id="10" name="TextBox 9"/>
          <p:cNvSpPr txBox="1"/>
          <p:nvPr/>
        </p:nvSpPr>
        <p:spPr>
          <a:xfrm>
            <a:off x="5636525" y="1883382"/>
            <a:ext cx="1774209" cy="369332"/>
          </a:xfrm>
          <a:prstGeom prst="rect">
            <a:avLst/>
          </a:prstGeom>
          <a:noFill/>
        </p:spPr>
        <p:txBody>
          <a:bodyPr wrap="square" rtlCol="0">
            <a:spAutoFit/>
          </a:bodyPr>
          <a:lstStyle/>
          <a:p>
            <a:r>
              <a:rPr lang="en-US" dirty="0" smtClean="0"/>
              <a:t>  ------------------&gt;</a:t>
            </a:r>
            <a:endParaRPr lang="en-IN" dirty="0"/>
          </a:p>
        </p:txBody>
      </p:sp>
      <p:sp>
        <p:nvSpPr>
          <p:cNvPr id="11" name="TextBox 10"/>
          <p:cNvSpPr txBox="1"/>
          <p:nvPr/>
        </p:nvSpPr>
        <p:spPr>
          <a:xfrm>
            <a:off x="3326642" y="2293236"/>
            <a:ext cx="1774209" cy="369332"/>
          </a:xfrm>
          <a:prstGeom prst="rect">
            <a:avLst/>
          </a:prstGeom>
          <a:noFill/>
        </p:spPr>
        <p:txBody>
          <a:bodyPr wrap="square" rtlCol="0">
            <a:spAutoFit/>
          </a:bodyPr>
          <a:lstStyle/>
          <a:p>
            <a:r>
              <a:rPr lang="en-US" dirty="0" smtClean="0"/>
              <a:t>  &lt;------------------</a:t>
            </a:r>
            <a:endParaRPr lang="en-IN" dirty="0"/>
          </a:p>
        </p:txBody>
      </p:sp>
      <p:sp>
        <p:nvSpPr>
          <p:cNvPr id="12" name="TextBox 11"/>
          <p:cNvSpPr txBox="1"/>
          <p:nvPr/>
        </p:nvSpPr>
        <p:spPr>
          <a:xfrm>
            <a:off x="5663823" y="2285570"/>
            <a:ext cx="1774209" cy="369332"/>
          </a:xfrm>
          <a:prstGeom prst="rect">
            <a:avLst/>
          </a:prstGeom>
          <a:noFill/>
        </p:spPr>
        <p:txBody>
          <a:bodyPr wrap="square" rtlCol="0">
            <a:spAutoFit/>
          </a:bodyPr>
          <a:lstStyle/>
          <a:p>
            <a:r>
              <a:rPr lang="en-US" dirty="0" smtClean="0"/>
              <a:t>  &lt;------------------</a:t>
            </a:r>
            <a:endParaRPr lang="en-IN" dirty="0"/>
          </a:p>
        </p:txBody>
      </p:sp>
      <p:sp>
        <p:nvSpPr>
          <p:cNvPr id="13" name="TextBox 12"/>
          <p:cNvSpPr txBox="1"/>
          <p:nvPr/>
        </p:nvSpPr>
        <p:spPr>
          <a:xfrm>
            <a:off x="7779223" y="2084476"/>
            <a:ext cx="1569492" cy="369332"/>
          </a:xfrm>
          <a:prstGeom prst="rect">
            <a:avLst/>
          </a:prstGeom>
          <a:noFill/>
        </p:spPr>
        <p:txBody>
          <a:bodyPr wrap="square" rtlCol="0">
            <a:spAutoFit/>
          </a:bodyPr>
          <a:lstStyle/>
          <a:p>
            <a:r>
              <a:rPr lang="en-US" dirty="0" smtClean="0"/>
              <a:t>      -----------|</a:t>
            </a:r>
            <a:endParaRPr lang="en-IN" dirty="0"/>
          </a:p>
        </p:txBody>
      </p:sp>
      <p:sp>
        <p:nvSpPr>
          <p:cNvPr id="14" name="TextBox 13"/>
          <p:cNvSpPr txBox="1"/>
          <p:nvPr/>
        </p:nvSpPr>
        <p:spPr>
          <a:xfrm>
            <a:off x="3815251" y="1739238"/>
            <a:ext cx="595484" cy="369332"/>
          </a:xfrm>
          <a:prstGeom prst="rect">
            <a:avLst/>
          </a:prstGeom>
          <a:noFill/>
        </p:spPr>
        <p:txBody>
          <a:bodyPr wrap="none" rtlCol="0">
            <a:spAutoFit/>
          </a:bodyPr>
          <a:lstStyle/>
          <a:p>
            <a:r>
              <a:rPr lang="en-US" dirty="0"/>
              <a:t>n</a:t>
            </a:r>
            <a:r>
              <a:rPr lang="en-US" dirty="0" smtClean="0"/>
              <a:t>ext</a:t>
            </a:r>
            <a:endParaRPr lang="en-US" dirty="0" smtClean="0"/>
          </a:p>
        </p:txBody>
      </p:sp>
      <p:sp>
        <p:nvSpPr>
          <p:cNvPr id="15" name="TextBox 14"/>
          <p:cNvSpPr txBox="1"/>
          <p:nvPr/>
        </p:nvSpPr>
        <p:spPr>
          <a:xfrm>
            <a:off x="6175608" y="1739238"/>
            <a:ext cx="595484" cy="369332"/>
          </a:xfrm>
          <a:prstGeom prst="rect">
            <a:avLst/>
          </a:prstGeom>
          <a:noFill/>
        </p:spPr>
        <p:txBody>
          <a:bodyPr wrap="none" rtlCol="0">
            <a:spAutoFit/>
          </a:bodyPr>
          <a:lstStyle/>
          <a:p>
            <a:r>
              <a:rPr lang="en-US" dirty="0"/>
              <a:t>n</a:t>
            </a:r>
            <a:r>
              <a:rPr lang="en-US" dirty="0" smtClean="0"/>
              <a:t>ext</a:t>
            </a:r>
            <a:endParaRPr lang="en-US" dirty="0" smtClean="0"/>
          </a:p>
        </p:txBody>
      </p:sp>
      <p:sp>
        <p:nvSpPr>
          <p:cNvPr id="16" name="TextBox 15"/>
          <p:cNvSpPr txBox="1"/>
          <p:nvPr/>
        </p:nvSpPr>
        <p:spPr>
          <a:xfrm>
            <a:off x="3826720" y="2414802"/>
            <a:ext cx="602088" cy="369332"/>
          </a:xfrm>
          <a:prstGeom prst="rect">
            <a:avLst/>
          </a:prstGeom>
          <a:noFill/>
        </p:spPr>
        <p:txBody>
          <a:bodyPr wrap="none" rtlCol="0">
            <a:spAutoFit/>
          </a:bodyPr>
          <a:lstStyle/>
          <a:p>
            <a:r>
              <a:rPr lang="en-US" dirty="0"/>
              <a:t>p</a:t>
            </a:r>
            <a:r>
              <a:rPr lang="en-US" dirty="0" smtClean="0"/>
              <a:t>rev</a:t>
            </a:r>
            <a:endParaRPr lang="en-US" dirty="0" smtClean="0"/>
          </a:p>
        </p:txBody>
      </p:sp>
      <p:sp>
        <p:nvSpPr>
          <p:cNvPr id="17" name="TextBox 16"/>
          <p:cNvSpPr txBox="1"/>
          <p:nvPr/>
        </p:nvSpPr>
        <p:spPr>
          <a:xfrm>
            <a:off x="6214175" y="2453808"/>
            <a:ext cx="602088" cy="369332"/>
          </a:xfrm>
          <a:prstGeom prst="rect">
            <a:avLst/>
          </a:prstGeom>
          <a:noFill/>
        </p:spPr>
        <p:txBody>
          <a:bodyPr wrap="none" rtlCol="0">
            <a:spAutoFit/>
          </a:bodyPr>
          <a:lstStyle/>
          <a:p>
            <a:r>
              <a:rPr lang="en-US" dirty="0"/>
              <a:t>p</a:t>
            </a:r>
            <a:r>
              <a:rPr lang="en-US" dirty="0" smtClean="0"/>
              <a:t>rev</a:t>
            </a:r>
            <a:endParaRPr lang="en-US" dirty="0" smtClean="0"/>
          </a:p>
        </p:txBody>
      </p:sp>
      <p:sp>
        <p:nvSpPr>
          <p:cNvPr id="18" name="TextBox 17"/>
          <p:cNvSpPr txBox="1"/>
          <p:nvPr/>
        </p:nvSpPr>
        <p:spPr>
          <a:xfrm>
            <a:off x="2861826" y="2654902"/>
            <a:ext cx="300082" cy="369332"/>
          </a:xfrm>
          <a:prstGeom prst="rect">
            <a:avLst/>
          </a:prstGeom>
          <a:noFill/>
        </p:spPr>
        <p:txBody>
          <a:bodyPr wrap="none" rtlCol="0">
            <a:spAutoFit/>
          </a:bodyPr>
          <a:lstStyle/>
          <a:p>
            <a:r>
              <a:rPr lang="en-US" dirty="0" smtClean="0"/>
              <a:t>^</a:t>
            </a:r>
            <a:endParaRPr lang="en-IN" dirty="0"/>
          </a:p>
        </p:txBody>
      </p:sp>
      <p:sp>
        <p:nvSpPr>
          <p:cNvPr id="35" name="TextBox 34"/>
          <p:cNvSpPr txBox="1"/>
          <p:nvPr/>
        </p:nvSpPr>
        <p:spPr>
          <a:xfrm>
            <a:off x="1214651" y="2088099"/>
            <a:ext cx="1569492" cy="369332"/>
          </a:xfrm>
          <a:prstGeom prst="rect">
            <a:avLst/>
          </a:prstGeom>
          <a:noFill/>
        </p:spPr>
        <p:txBody>
          <a:bodyPr wrap="square" rtlCol="0">
            <a:spAutoFit/>
          </a:bodyPr>
          <a:lstStyle/>
          <a:p>
            <a:r>
              <a:rPr lang="en-US" dirty="0" smtClean="0"/>
              <a:t>     |------------</a:t>
            </a:r>
            <a:endParaRPr lang="en-IN" dirty="0"/>
          </a:p>
        </p:txBody>
      </p:sp>
      <p:sp>
        <p:nvSpPr>
          <p:cNvPr id="36" name="TextBox 35"/>
          <p:cNvSpPr txBox="1"/>
          <p:nvPr/>
        </p:nvSpPr>
        <p:spPr>
          <a:xfrm>
            <a:off x="2348865" y="2699047"/>
            <a:ext cx="813043" cy="646331"/>
          </a:xfrm>
          <a:prstGeom prst="rect">
            <a:avLst/>
          </a:prstGeom>
          <a:noFill/>
        </p:spPr>
        <p:txBody>
          <a:bodyPr wrap="none" rtlCol="0">
            <a:spAutoFit/>
          </a:bodyPr>
          <a:lstStyle/>
          <a:p>
            <a:r>
              <a:rPr lang="en-US" dirty="0" smtClean="0"/>
              <a:t>head |</a:t>
            </a:r>
            <a:endParaRPr lang="en-US" dirty="0" smtClean="0"/>
          </a:p>
          <a:p>
            <a:endParaRPr lang="en-IN" dirty="0"/>
          </a:p>
        </p:txBody>
      </p:sp>
      <p:cxnSp>
        <p:nvCxnSpPr>
          <p:cNvPr id="43" name="Straight Arrow Connector 42"/>
          <p:cNvCxnSpPr/>
          <p:nvPr/>
        </p:nvCxnSpPr>
        <p:spPr>
          <a:xfrm>
            <a:off x="2861826" y="1282881"/>
            <a:ext cx="0" cy="60050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4" name="TextBox 43"/>
          <p:cNvSpPr txBox="1"/>
          <p:nvPr/>
        </p:nvSpPr>
        <p:spPr>
          <a:xfrm>
            <a:off x="2023082" y="1445811"/>
            <a:ext cx="1480779" cy="369332"/>
          </a:xfrm>
          <a:prstGeom prst="rect">
            <a:avLst/>
          </a:prstGeom>
          <a:noFill/>
        </p:spPr>
        <p:txBody>
          <a:bodyPr wrap="square" rtlCol="0">
            <a:spAutoFit/>
          </a:bodyPr>
          <a:lstStyle/>
          <a:p>
            <a:r>
              <a:rPr lang="en-US" dirty="0" smtClean="0"/>
              <a:t>current </a:t>
            </a:r>
            <a:endParaRPr lang="en-IN" dirty="0"/>
          </a:p>
        </p:txBody>
      </p:sp>
      <p:sp>
        <p:nvSpPr>
          <p:cNvPr id="50" name="TextBox 49"/>
          <p:cNvSpPr txBox="1"/>
          <p:nvPr/>
        </p:nvSpPr>
        <p:spPr>
          <a:xfrm>
            <a:off x="1292334" y="3823635"/>
            <a:ext cx="1569492" cy="369332"/>
          </a:xfrm>
          <a:prstGeom prst="rect">
            <a:avLst/>
          </a:prstGeom>
          <a:noFill/>
        </p:spPr>
        <p:txBody>
          <a:bodyPr wrap="square" rtlCol="0">
            <a:spAutoFit/>
          </a:bodyPr>
          <a:lstStyle/>
          <a:p>
            <a:r>
              <a:rPr lang="en-US" dirty="0" smtClean="0"/>
              <a:t>     |------------</a:t>
            </a:r>
            <a:endParaRPr lang="en-IN" dirty="0"/>
          </a:p>
        </p:txBody>
      </p:sp>
      <p:sp>
        <p:nvSpPr>
          <p:cNvPr id="51" name="Flowchart: Predefined Process 50"/>
          <p:cNvSpPr/>
          <p:nvPr/>
        </p:nvSpPr>
        <p:spPr>
          <a:xfrm>
            <a:off x="2472780" y="3598447"/>
            <a:ext cx="1078174" cy="819708"/>
          </a:xfrm>
          <a:prstGeom prst="flowChartPredefinedProcess">
            <a:avLst/>
          </a:prstGeom>
          <a:solidFill>
            <a:srgbClr val="FFFF99"/>
          </a:solid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2" name="TextBox 51"/>
          <p:cNvSpPr txBox="1"/>
          <p:nvPr/>
        </p:nvSpPr>
        <p:spPr>
          <a:xfrm>
            <a:off x="3329153" y="3638969"/>
            <a:ext cx="1774209" cy="369332"/>
          </a:xfrm>
          <a:prstGeom prst="rect">
            <a:avLst/>
          </a:prstGeom>
          <a:noFill/>
        </p:spPr>
        <p:txBody>
          <a:bodyPr wrap="square" rtlCol="0">
            <a:spAutoFit/>
          </a:bodyPr>
          <a:lstStyle/>
          <a:p>
            <a:r>
              <a:rPr lang="en-US" dirty="0" smtClean="0"/>
              <a:t>  ------------------&gt;</a:t>
            </a:r>
            <a:endParaRPr lang="en-IN" dirty="0"/>
          </a:p>
        </p:txBody>
      </p:sp>
      <p:sp>
        <p:nvSpPr>
          <p:cNvPr id="53" name="TextBox 52"/>
          <p:cNvSpPr txBox="1"/>
          <p:nvPr/>
        </p:nvSpPr>
        <p:spPr>
          <a:xfrm>
            <a:off x="3327834" y="3998698"/>
            <a:ext cx="1774209" cy="369332"/>
          </a:xfrm>
          <a:prstGeom prst="rect">
            <a:avLst/>
          </a:prstGeom>
          <a:noFill/>
        </p:spPr>
        <p:txBody>
          <a:bodyPr wrap="square" rtlCol="0">
            <a:spAutoFit/>
          </a:bodyPr>
          <a:lstStyle/>
          <a:p>
            <a:r>
              <a:rPr lang="en-US" dirty="0" smtClean="0"/>
              <a:t>  &lt;------------------</a:t>
            </a:r>
            <a:endParaRPr lang="en-IN" dirty="0"/>
          </a:p>
        </p:txBody>
      </p:sp>
      <p:sp>
        <p:nvSpPr>
          <p:cNvPr id="54" name="Flowchart: Predefined Process 53"/>
          <p:cNvSpPr/>
          <p:nvPr/>
        </p:nvSpPr>
        <p:spPr>
          <a:xfrm>
            <a:off x="4902958" y="3593308"/>
            <a:ext cx="948518" cy="819708"/>
          </a:xfrm>
          <a:prstGeom prst="flowChartPredefinedProcess">
            <a:avLst/>
          </a:prstGeom>
          <a:solidFill>
            <a:srgbClr val="FFFF99"/>
          </a:solid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6" name="TextBox 55"/>
          <p:cNvSpPr txBox="1"/>
          <p:nvPr/>
        </p:nvSpPr>
        <p:spPr>
          <a:xfrm>
            <a:off x="5663823" y="3641749"/>
            <a:ext cx="1774209" cy="369332"/>
          </a:xfrm>
          <a:prstGeom prst="rect">
            <a:avLst/>
          </a:prstGeom>
          <a:noFill/>
        </p:spPr>
        <p:txBody>
          <a:bodyPr wrap="square" rtlCol="0">
            <a:spAutoFit/>
          </a:bodyPr>
          <a:lstStyle/>
          <a:p>
            <a:r>
              <a:rPr lang="en-US" dirty="0" smtClean="0"/>
              <a:t>  ------------------&gt;</a:t>
            </a:r>
            <a:endParaRPr lang="en-IN" dirty="0"/>
          </a:p>
        </p:txBody>
      </p:sp>
      <p:sp>
        <p:nvSpPr>
          <p:cNvPr id="57" name="TextBox 56"/>
          <p:cNvSpPr txBox="1"/>
          <p:nvPr/>
        </p:nvSpPr>
        <p:spPr>
          <a:xfrm>
            <a:off x="5663823" y="3989095"/>
            <a:ext cx="1774209" cy="369332"/>
          </a:xfrm>
          <a:prstGeom prst="rect">
            <a:avLst/>
          </a:prstGeom>
          <a:noFill/>
        </p:spPr>
        <p:txBody>
          <a:bodyPr wrap="square" rtlCol="0">
            <a:spAutoFit/>
          </a:bodyPr>
          <a:lstStyle/>
          <a:p>
            <a:r>
              <a:rPr lang="en-US" dirty="0" smtClean="0"/>
              <a:t>  &lt;------------------</a:t>
            </a:r>
            <a:endParaRPr lang="en-IN" dirty="0"/>
          </a:p>
        </p:txBody>
      </p:sp>
      <p:sp>
        <p:nvSpPr>
          <p:cNvPr id="58" name="Flowchart: Predefined Process 57"/>
          <p:cNvSpPr/>
          <p:nvPr/>
        </p:nvSpPr>
        <p:spPr>
          <a:xfrm>
            <a:off x="7215532" y="3518668"/>
            <a:ext cx="948518" cy="819708"/>
          </a:xfrm>
          <a:prstGeom prst="flowChartPredefinedProcess">
            <a:avLst/>
          </a:prstGeom>
          <a:solidFill>
            <a:srgbClr val="FFFF99"/>
          </a:solid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9" name="TextBox 58"/>
          <p:cNvSpPr txBox="1"/>
          <p:nvPr/>
        </p:nvSpPr>
        <p:spPr>
          <a:xfrm>
            <a:off x="7779223" y="3989520"/>
            <a:ext cx="1569492" cy="369332"/>
          </a:xfrm>
          <a:prstGeom prst="rect">
            <a:avLst/>
          </a:prstGeom>
          <a:noFill/>
        </p:spPr>
        <p:txBody>
          <a:bodyPr wrap="square" rtlCol="0">
            <a:spAutoFit/>
          </a:bodyPr>
          <a:lstStyle/>
          <a:p>
            <a:r>
              <a:rPr lang="en-US" dirty="0" smtClean="0"/>
              <a:t>      -----------|</a:t>
            </a:r>
            <a:endParaRPr lang="en-IN" dirty="0"/>
          </a:p>
        </p:txBody>
      </p:sp>
      <p:sp>
        <p:nvSpPr>
          <p:cNvPr id="60" name="TextBox 59"/>
          <p:cNvSpPr txBox="1"/>
          <p:nvPr/>
        </p:nvSpPr>
        <p:spPr>
          <a:xfrm>
            <a:off x="3883674" y="3535347"/>
            <a:ext cx="595484" cy="369332"/>
          </a:xfrm>
          <a:prstGeom prst="rect">
            <a:avLst/>
          </a:prstGeom>
          <a:noFill/>
        </p:spPr>
        <p:txBody>
          <a:bodyPr wrap="none" rtlCol="0">
            <a:spAutoFit/>
          </a:bodyPr>
          <a:lstStyle/>
          <a:p>
            <a:r>
              <a:rPr lang="en-US" dirty="0"/>
              <a:t>n</a:t>
            </a:r>
            <a:r>
              <a:rPr lang="en-US" dirty="0" smtClean="0"/>
              <a:t>ext</a:t>
            </a:r>
            <a:endParaRPr lang="en-US" dirty="0" smtClean="0"/>
          </a:p>
        </p:txBody>
      </p:sp>
      <p:sp>
        <p:nvSpPr>
          <p:cNvPr id="61" name="TextBox 60"/>
          <p:cNvSpPr txBox="1"/>
          <p:nvPr/>
        </p:nvSpPr>
        <p:spPr>
          <a:xfrm>
            <a:off x="6235762" y="3535347"/>
            <a:ext cx="595484" cy="369332"/>
          </a:xfrm>
          <a:prstGeom prst="rect">
            <a:avLst/>
          </a:prstGeom>
          <a:noFill/>
        </p:spPr>
        <p:txBody>
          <a:bodyPr wrap="none" rtlCol="0">
            <a:spAutoFit/>
          </a:bodyPr>
          <a:lstStyle/>
          <a:p>
            <a:r>
              <a:rPr lang="en-US" dirty="0"/>
              <a:t>n</a:t>
            </a:r>
            <a:r>
              <a:rPr lang="en-US" dirty="0" smtClean="0"/>
              <a:t>ext</a:t>
            </a:r>
            <a:endParaRPr lang="en-US" dirty="0" smtClean="0"/>
          </a:p>
        </p:txBody>
      </p:sp>
      <p:sp>
        <p:nvSpPr>
          <p:cNvPr id="62" name="TextBox 61"/>
          <p:cNvSpPr txBox="1"/>
          <p:nvPr/>
        </p:nvSpPr>
        <p:spPr>
          <a:xfrm>
            <a:off x="3883674" y="4110954"/>
            <a:ext cx="602088" cy="369332"/>
          </a:xfrm>
          <a:prstGeom prst="rect">
            <a:avLst/>
          </a:prstGeom>
          <a:noFill/>
        </p:spPr>
        <p:txBody>
          <a:bodyPr wrap="none" rtlCol="0">
            <a:spAutoFit/>
          </a:bodyPr>
          <a:lstStyle/>
          <a:p>
            <a:r>
              <a:rPr lang="en-US" dirty="0"/>
              <a:t>p</a:t>
            </a:r>
            <a:r>
              <a:rPr lang="en-US" dirty="0" smtClean="0"/>
              <a:t>rev</a:t>
            </a:r>
            <a:endParaRPr lang="en-US" dirty="0" smtClean="0"/>
          </a:p>
        </p:txBody>
      </p:sp>
      <p:sp>
        <p:nvSpPr>
          <p:cNvPr id="63" name="TextBox 62"/>
          <p:cNvSpPr txBox="1"/>
          <p:nvPr/>
        </p:nvSpPr>
        <p:spPr>
          <a:xfrm>
            <a:off x="6287328" y="4119925"/>
            <a:ext cx="602088" cy="369332"/>
          </a:xfrm>
          <a:prstGeom prst="rect">
            <a:avLst/>
          </a:prstGeom>
          <a:noFill/>
        </p:spPr>
        <p:txBody>
          <a:bodyPr wrap="none" rtlCol="0">
            <a:spAutoFit/>
          </a:bodyPr>
          <a:lstStyle/>
          <a:p>
            <a:r>
              <a:rPr lang="en-US" dirty="0"/>
              <a:t>p</a:t>
            </a:r>
            <a:r>
              <a:rPr lang="en-US" dirty="0" smtClean="0"/>
              <a:t>rev</a:t>
            </a:r>
            <a:endParaRPr lang="en-US" dirty="0" smtClean="0"/>
          </a:p>
        </p:txBody>
      </p:sp>
      <p:sp>
        <p:nvSpPr>
          <p:cNvPr id="64" name="TextBox 63"/>
          <p:cNvSpPr txBox="1"/>
          <p:nvPr/>
        </p:nvSpPr>
        <p:spPr>
          <a:xfrm>
            <a:off x="2508203" y="4548061"/>
            <a:ext cx="707245" cy="646331"/>
          </a:xfrm>
          <a:prstGeom prst="rect">
            <a:avLst/>
          </a:prstGeom>
          <a:noFill/>
        </p:spPr>
        <p:txBody>
          <a:bodyPr wrap="none" rtlCol="0">
            <a:spAutoFit/>
          </a:bodyPr>
          <a:lstStyle/>
          <a:p>
            <a:r>
              <a:rPr lang="en-US" dirty="0" smtClean="0"/>
              <a:t>head </a:t>
            </a:r>
            <a:endParaRPr lang="en-US" dirty="0" smtClean="0"/>
          </a:p>
          <a:p>
            <a:endParaRPr lang="en-IN" dirty="0"/>
          </a:p>
        </p:txBody>
      </p:sp>
      <p:cxnSp>
        <p:nvCxnSpPr>
          <p:cNvPr id="66" name="Straight Arrow Connector 65"/>
          <p:cNvCxnSpPr/>
          <p:nvPr/>
        </p:nvCxnSpPr>
        <p:spPr>
          <a:xfrm flipV="1">
            <a:off x="3126297" y="4413016"/>
            <a:ext cx="0" cy="45821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2" name="Straight Arrow Connector 71"/>
          <p:cNvCxnSpPr/>
          <p:nvPr/>
        </p:nvCxnSpPr>
        <p:spPr>
          <a:xfrm>
            <a:off x="5296159" y="3026168"/>
            <a:ext cx="0" cy="56714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5" name="TextBox 74"/>
          <p:cNvSpPr txBox="1"/>
          <p:nvPr/>
        </p:nvSpPr>
        <p:spPr>
          <a:xfrm>
            <a:off x="5295330" y="3170775"/>
            <a:ext cx="873637" cy="369332"/>
          </a:xfrm>
          <a:prstGeom prst="rect">
            <a:avLst/>
          </a:prstGeom>
          <a:noFill/>
        </p:spPr>
        <p:txBody>
          <a:bodyPr wrap="none" rtlCol="0">
            <a:spAutoFit/>
          </a:bodyPr>
          <a:lstStyle/>
          <a:p>
            <a:r>
              <a:rPr lang="en-US" dirty="0" smtClean="0"/>
              <a:t>current</a:t>
            </a:r>
            <a:endParaRPr lang="en-IN" dirty="0"/>
          </a:p>
        </p:txBody>
      </p:sp>
      <p:sp>
        <p:nvSpPr>
          <p:cNvPr id="77" name="TextBox 76"/>
          <p:cNvSpPr txBox="1"/>
          <p:nvPr/>
        </p:nvSpPr>
        <p:spPr>
          <a:xfrm>
            <a:off x="1321902" y="5463645"/>
            <a:ext cx="1569492" cy="369332"/>
          </a:xfrm>
          <a:prstGeom prst="rect">
            <a:avLst/>
          </a:prstGeom>
          <a:noFill/>
        </p:spPr>
        <p:txBody>
          <a:bodyPr wrap="square" rtlCol="0">
            <a:spAutoFit/>
          </a:bodyPr>
          <a:lstStyle/>
          <a:p>
            <a:r>
              <a:rPr lang="en-US" dirty="0" smtClean="0"/>
              <a:t>     |------------</a:t>
            </a:r>
            <a:endParaRPr lang="en-IN" dirty="0"/>
          </a:p>
        </p:txBody>
      </p:sp>
      <p:sp>
        <p:nvSpPr>
          <p:cNvPr id="78" name="Flowchart: Predefined Process 77"/>
          <p:cNvSpPr/>
          <p:nvPr/>
        </p:nvSpPr>
        <p:spPr>
          <a:xfrm>
            <a:off x="2502348" y="5238457"/>
            <a:ext cx="1078174" cy="819708"/>
          </a:xfrm>
          <a:prstGeom prst="flowChartPredefinedProcess">
            <a:avLst/>
          </a:prstGeom>
          <a:solidFill>
            <a:srgbClr val="FFFF99"/>
          </a:solid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79" name="TextBox 78"/>
          <p:cNvSpPr txBox="1"/>
          <p:nvPr/>
        </p:nvSpPr>
        <p:spPr>
          <a:xfrm>
            <a:off x="3358721" y="5278979"/>
            <a:ext cx="1774209" cy="369332"/>
          </a:xfrm>
          <a:prstGeom prst="rect">
            <a:avLst/>
          </a:prstGeom>
          <a:noFill/>
        </p:spPr>
        <p:txBody>
          <a:bodyPr wrap="square" rtlCol="0">
            <a:spAutoFit/>
          </a:bodyPr>
          <a:lstStyle/>
          <a:p>
            <a:r>
              <a:rPr lang="en-US" dirty="0" smtClean="0"/>
              <a:t>  ------------------&gt;</a:t>
            </a:r>
            <a:endParaRPr lang="en-IN" dirty="0"/>
          </a:p>
        </p:txBody>
      </p:sp>
      <p:sp>
        <p:nvSpPr>
          <p:cNvPr id="80" name="TextBox 79"/>
          <p:cNvSpPr txBox="1"/>
          <p:nvPr/>
        </p:nvSpPr>
        <p:spPr>
          <a:xfrm>
            <a:off x="3357402" y="5638708"/>
            <a:ext cx="1774209" cy="369332"/>
          </a:xfrm>
          <a:prstGeom prst="rect">
            <a:avLst/>
          </a:prstGeom>
          <a:noFill/>
        </p:spPr>
        <p:txBody>
          <a:bodyPr wrap="square" rtlCol="0">
            <a:spAutoFit/>
          </a:bodyPr>
          <a:lstStyle/>
          <a:p>
            <a:r>
              <a:rPr lang="en-US" dirty="0" smtClean="0"/>
              <a:t>  &lt;------------------</a:t>
            </a:r>
            <a:endParaRPr lang="en-IN" dirty="0"/>
          </a:p>
        </p:txBody>
      </p:sp>
      <p:sp>
        <p:nvSpPr>
          <p:cNvPr id="81" name="Flowchart: Predefined Process 80"/>
          <p:cNvSpPr/>
          <p:nvPr/>
        </p:nvSpPr>
        <p:spPr>
          <a:xfrm>
            <a:off x="4932526" y="5233318"/>
            <a:ext cx="948518" cy="819708"/>
          </a:xfrm>
          <a:prstGeom prst="flowChartPredefinedProcess">
            <a:avLst/>
          </a:prstGeom>
          <a:solidFill>
            <a:srgbClr val="FFFF99"/>
          </a:solid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82" name="TextBox 81"/>
          <p:cNvSpPr txBox="1"/>
          <p:nvPr/>
        </p:nvSpPr>
        <p:spPr>
          <a:xfrm>
            <a:off x="5693391" y="5281759"/>
            <a:ext cx="1774209" cy="369332"/>
          </a:xfrm>
          <a:prstGeom prst="rect">
            <a:avLst/>
          </a:prstGeom>
          <a:noFill/>
        </p:spPr>
        <p:txBody>
          <a:bodyPr wrap="square" rtlCol="0">
            <a:spAutoFit/>
          </a:bodyPr>
          <a:lstStyle/>
          <a:p>
            <a:r>
              <a:rPr lang="en-US" dirty="0" smtClean="0"/>
              <a:t>  ------------------&gt;</a:t>
            </a:r>
            <a:endParaRPr lang="en-IN" dirty="0"/>
          </a:p>
        </p:txBody>
      </p:sp>
      <p:sp>
        <p:nvSpPr>
          <p:cNvPr id="83" name="TextBox 82"/>
          <p:cNvSpPr txBox="1"/>
          <p:nvPr/>
        </p:nvSpPr>
        <p:spPr>
          <a:xfrm>
            <a:off x="5693391" y="5629105"/>
            <a:ext cx="1774209" cy="369332"/>
          </a:xfrm>
          <a:prstGeom prst="rect">
            <a:avLst/>
          </a:prstGeom>
          <a:noFill/>
        </p:spPr>
        <p:txBody>
          <a:bodyPr wrap="square" rtlCol="0">
            <a:spAutoFit/>
          </a:bodyPr>
          <a:lstStyle/>
          <a:p>
            <a:r>
              <a:rPr lang="en-US" dirty="0" smtClean="0"/>
              <a:t>  &lt;------------------</a:t>
            </a:r>
            <a:endParaRPr lang="en-IN" dirty="0"/>
          </a:p>
        </p:txBody>
      </p:sp>
      <p:sp>
        <p:nvSpPr>
          <p:cNvPr id="84" name="Flowchart: Predefined Process 83"/>
          <p:cNvSpPr/>
          <p:nvPr/>
        </p:nvSpPr>
        <p:spPr>
          <a:xfrm>
            <a:off x="7245100" y="5158678"/>
            <a:ext cx="948518" cy="819708"/>
          </a:xfrm>
          <a:prstGeom prst="flowChartPredefinedProcess">
            <a:avLst/>
          </a:prstGeom>
          <a:solidFill>
            <a:srgbClr val="FFFF99"/>
          </a:solid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85" name="TextBox 84"/>
          <p:cNvSpPr txBox="1"/>
          <p:nvPr/>
        </p:nvSpPr>
        <p:spPr>
          <a:xfrm>
            <a:off x="7808791" y="5629530"/>
            <a:ext cx="1569492" cy="369332"/>
          </a:xfrm>
          <a:prstGeom prst="rect">
            <a:avLst/>
          </a:prstGeom>
          <a:noFill/>
        </p:spPr>
        <p:txBody>
          <a:bodyPr wrap="square" rtlCol="0">
            <a:spAutoFit/>
          </a:bodyPr>
          <a:lstStyle/>
          <a:p>
            <a:r>
              <a:rPr lang="en-US" dirty="0" smtClean="0"/>
              <a:t>      -----------|</a:t>
            </a:r>
            <a:endParaRPr lang="en-IN" dirty="0"/>
          </a:p>
        </p:txBody>
      </p:sp>
      <p:sp>
        <p:nvSpPr>
          <p:cNvPr id="86" name="TextBox 85"/>
          <p:cNvSpPr txBox="1"/>
          <p:nvPr/>
        </p:nvSpPr>
        <p:spPr>
          <a:xfrm>
            <a:off x="3913242" y="5175357"/>
            <a:ext cx="595484" cy="369332"/>
          </a:xfrm>
          <a:prstGeom prst="rect">
            <a:avLst/>
          </a:prstGeom>
          <a:noFill/>
        </p:spPr>
        <p:txBody>
          <a:bodyPr wrap="none" rtlCol="0">
            <a:spAutoFit/>
          </a:bodyPr>
          <a:lstStyle/>
          <a:p>
            <a:r>
              <a:rPr lang="en-US" dirty="0"/>
              <a:t>n</a:t>
            </a:r>
            <a:r>
              <a:rPr lang="en-US" dirty="0" smtClean="0"/>
              <a:t>ext</a:t>
            </a:r>
            <a:endParaRPr lang="en-US" dirty="0" smtClean="0"/>
          </a:p>
        </p:txBody>
      </p:sp>
      <p:sp>
        <p:nvSpPr>
          <p:cNvPr id="87" name="TextBox 86"/>
          <p:cNvSpPr txBox="1"/>
          <p:nvPr/>
        </p:nvSpPr>
        <p:spPr>
          <a:xfrm>
            <a:off x="6265330" y="5175357"/>
            <a:ext cx="595484" cy="369332"/>
          </a:xfrm>
          <a:prstGeom prst="rect">
            <a:avLst/>
          </a:prstGeom>
          <a:noFill/>
        </p:spPr>
        <p:txBody>
          <a:bodyPr wrap="none" rtlCol="0">
            <a:spAutoFit/>
          </a:bodyPr>
          <a:lstStyle/>
          <a:p>
            <a:r>
              <a:rPr lang="en-US" dirty="0"/>
              <a:t>n</a:t>
            </a:r>
            <a:r>
              <a:rPr lang="en-US" dirty="0" smtClean="0"/>
              <a:t>ext</a:t>
            </a:r>
            <a:endParaRPr lang="en-US" dirty="0" smtClean="0"/>
          </a:p>
        </p:txBody>
      </p:sp>
      <p:sp>
        <p:nvSpPr>
          <p:cNvPr id="88" name="TextBox 87"/>
          <p:cNvSpPr txBox="1"/>
          <p:nvPr/>
        </p:nvSpPr>
        <p:spPr>
          <a:xfrm>
            <a:off x="3913242" y="5750964"/>
            <a:ext cx="602088" cy="369332"/>
          </a:xfrm>
          <a:prstGeom prst="rect">
            <a:avLst/>
          </a:prstGeom>
          <a:noFill/>
        </p:spPr>
        <p:txBody>
          <a:bodyPr wrap="none" rtlCol="0">
            <a:spAutoFit/>
          </a:bodyPr>
          <a:lstStyle/>
          <a:p>
            <a:r>
              <a:rPr lang="en-US" dirty="0"/>
              <a:t>p</a:t>
            </a:r>
            <a:r>
              <a:rPr lang="en-US" dirty="0" smtClean="0"/>
              <a:t>rev</a:t>
            </a:r>
            <a:endParaRPr lang="en-US" dirty="0" smtClean="0"/>
          </a:p>
        </p:txBody>
      </p:sp>
      <p:sp>
        <p:nvSpPr>
          <p:cNvPr id="89" name="TextBox 88"/>
          <p:cNvSpPr txBox="1"/>
          <p:nvPr/>
        </p:nvSpPr>
        <p:spPr>
          <a:xfrm>
            <a:off x="6316896" y="5759935"/>
            <a:ext cx="602088" cy="369332"/>
          </a:xfrm>
          <a:prstGeom prst="rect">
            <a:avLst/>
          </a:prstGeom>
          <a:noFill/>
        </p:spPr>
        <p:txBody>
          <a:bodyPr wrap="none" rtlCol="0">
            <a:spAutoFit/>
          </a:bodyPr>
          <a:lstStyle/>
          <a:p>
            <a:r>
              <a:rPr lang="en-US" dirty="0"/>
              <a:t>p</a:t>
            </a:r>
            <a:r>
              <a:rPr lang="en-US" dirty="0" smtClean="0"/>
              <a:t>rev</a:t>
            </a:r>
            <a:endParaRPr lang="en-US" dirty="0" smtClean="0"/>
          </a:p>
        </p:txBody>
      </p:sp>
      <p:cxnSp>
        <p:nvCxnSpPr>
          <p:cNvPr id="90" name="Straight Arrow Connector 89"/>
          <p:cNvCxnSpPr/>
          <p:nvPr/>
        </p:nvCxnSpPr>
        <p:spPr>
          <a:xfrm flipV="1">
            <a:off x="3155865" y="6053026"/>
            <a:ext cx="0" cy="45821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91" name="TextBox 90"/>
          <p:cNvSpPr txBox="1"/>
          <p:nvPr/>
        </p:nvSpPr>
        <p:spPr>
          <a:xfrm>
            <a:off x="7519825" y="4686560"/>
            <a:ext cx="873637" cy="369332"/>
          </a:xfrm>
          <a:prstGeom prst="rect">
            <a:avLst/>
          </a:prstGeom>
          <a:noFill/>
        </p:spPr>
        <p:txBody>
          <a:bodyPr wrap="none" rtlCol="0">
            <a:spAutoFit/>
          </a:bodyPr>
          <a:lstStyle/>
          <a:p>
            <a:r>
              <a:rPr lang="en-US" dirty="0" smtClean="0"/>
              <a:t>current</a:t>
            </a:r>
            <a:endParaRPr lang="en-IN" dirty="0"/>
          </a:p>
        </p:txBody>
      </p:sp>
      <p:cxnSp>
        <p:nvCxnSpPr>
          <p:cNvPr id="92" name="Straight Arrow Connector 91"/>
          <p:cNvCxnSpPr/>
          <p:nvPr/>
        </p:nvCxnSpPr>
        <p:spPr>
          <a:xfrm>
            <a:off x="7550223" y="4587656"/>
            <a:ext cx="0" cy="56714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5" name="TextBox 54"/>
          <p:cNvSpPr txBox="1"/>
          <p:nvPr/>
        </p:nvSpPr>
        <p:spPr>
          <a:xfrm>
            <a:off x="2537771" y="6102230"/>
            <a:ext cx="707245" cy="923330"/>
          </a:xfrm>
          <a:prstGeom prst="rect">
            <a:avLst/>
          </a:prstGeom>
          <a:noFill/>
        </p:spPr>
        <p:txBody>
          <a:bodyPr wrap="none" rtlCol="0">
            <a:spAutoFit/>
          </a:bodyPr>
          <a:lstStyle/>
          <a:p>
            <a:r>
              <a:rPr lang="en-US" dirty="0" smtClean="0"/>
              <a:t>head </a:t>
            </a:r>
            <a:endParaRPr lang="en-US" dirty="0" smtClean="0"/>
          </a:p>
          <a:p>
            <a:endParaRPr lang="en-US" dirty="0" smtClean="0"/>
          </a:p>
          <a:p>
            <a:endParaRPr lang="en-IN" dirty="0"/>
          </a:p>
        </p:txBody>
      </p:sp>
    </p:spTree>
  </p:cSld>
  <p:clrMapOvr>
    <a:masterClrMapping/>
  </p:clrMapOvr>
  <p:transition spd="med">
    <p:pull/>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Bradley Hand ITC" panose="03070402050302030203" pitchFamily="66" charset="0"/>
              </a:rPr>
              <a:t>Op 3: Inserting node in the middle </a:t>
            </a:r>
            <a:endParaRPr lang="en-IN" b="1" dirty="0">
              <a:latin typeface="Bradley Hand ITC" panose="03070402050302030203" pitchFamily="66" charset="0"/>
            </a:endParaRPr>
          </a:p>
        </p:txBody>
      </p:sp>
      <p:sp>
        <p:nvSpPr>
          <p:cNvPr id="3" name="TextBox 2"/>
          <p:cNvSpPr txBox="1"/>
          <p:nvPr/>
        </p:nvSpPr>
        <p:spPr>
          <a:xfrm>
            <a:off x="2634017" y="4258111"/>
            <a:ext cx="5322627" cy="369332"/>
          </a:xfrm>
          <a:prstGeom prst="rect">
            <a:avLst/>
          </a:prstGeom>
          <a:noFill/>
        </p:spPr>
        <p:txBody>
          <a:bodyPr wrap="square" rtlCol="0">
            <a:spAutoFit/>
          </a:bodyPr>
          <a:lstStyle/>
          <a:p>
            <a:r>
              <a:rPr lang="en-US" dirty="0" smtClean="0"/>
              <a:t> </a:t>
            </a:r>
            <a:endParaRPr lang="en-IN" dirty="0"/>
          </a:p>
        </p:txBody>
      </p:sp>
      <p:sp>
        <p:nvSpPr>
          <p:cNvPr id="4" name="Flowchart: Predefined Process 3"/>
          <p:cNvSpPr/>
          <p:nvPr/>
        </p:nvSpPr>
        <p:spPr>
          <a:xfrm>
            <a:off x="2429301" y="3807735"/>
            <a:ext cx="1078174" cy="819708"/>
          </a:xfrm>
          <a:prstGeom prst="flowChartPredefinedProcess">
            <a:avLst/>
          </a:prstGeom>
          <a:solidFill>
            <a:srgbClr val="FFFF99"/>
          </a:solid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 name="TextBox 4"/>
          <p:cNvSpPr txBox="1"/>
          <p:nvPr/>
        </p:nvSpPr>
        <p:spPr>
          <a:xfrm>
            <a:off x="1214651" y="4012452"/>
            <a:ext cx="1569492" cy="369332"/>
          </a:xfrm>
          <a:prstGeom prst="rect">
            <a:avLst/>
          </a:prstGeom>
          <a:noFill/>
        </p:spPr>
        <p:txBody>
          <a:bodyPr wrap="square" rtlCol="0">
            <a:spAutoFit/>
          </a:bodyPr>
          <a:lstStyle/>
          <a:p>
            <a:r>
              <a:rPr lang="en-US" dirty="0" smtClean="0"/>
              <a:t>     |------------</a:t>
            </a:r>
            <a:endParaRPr lang="en-IN" dirty="0"/>
          </a:p>
        </p:txBody>
      </p:sp>
      <p:sp>
        <p:nvSpPr>
          <p:cNvPr id="6" name="TextBox 5"/>
          <p:cNvSpPr txBox="1"/>
          <p:nvPr/>
        </p:nvSpPr>
        <p:spPr>
          <a:xfrm>
            <a:off x="4722125" y="4012452"/>
            <a:ext cx="1310185" cy="369332"/>
          </a:xfrm>
          <a:prstGeom prst="rect">
            <a:avLst/>
          </a:prstGeom>
          <a:noFill/>
        </p:spPr>
        <p:txBody>
          <a:bodyPr wrap="square" rtlCol="0">
            <a:spAutoFit/>
          </a:bodyPr>
          <a:lstStyle/>
          <a:p>
            <a:r>
              <a:rPr lang="en-US" dirty="0" smtClean="0"/>
              <a:t> </a:t>
            </a:r>
            <a:endParaRPr lang="en-IN" dirty="0"/>
          </a:p>
        </p:txBody>
      </p:sp>
      <p:sp>
        <p:nvSpPr>
          <p:cNvPr id="7" name="Flowchart: Predefined Process 6"/>
          <p:cNvSpPr/>
          <p:nvPr/>
        </p:nvSpPr>
        <p:spPr>
          <a:xfrm>
            <a:off x="4885899" y="3807735"/>
            <a:ext cx="948518" cy="819708"/>
          </a:xfrm>
          <a:prstGeom prst="flowChartPredefinedProcess">
            <a:avLst/>
          </a:prstGeom>
          <a:solidFill>
            <a:srgbClr val="FFFF99"/>
          </a:solid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8" name="Flowchart: Predefined Process 7"/>
          <p:cNvSpPr/>
          <p:nvPr/>
        </p:nvSpPr>
        <p:spPr>
          <a:xfrm>
            <a:off x="7914910" y="3800069"/>
            <a:ext cx="948518" cy="819708"/>
          </a:xfrm>
          <a:prstGeom prst="flowChartPredefinedProcess">
            <a:avLst/>
          </a:prstGeom>
          <a:solidFill>
            <a:srgbClr val="FFFF99"/>
          </a:solid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9" name="TextBox 8"/>
          <p:cNvSpPr txBox="1"/>
          <p:nvPr/>
        </p:nvSpPr>
        <p:spPr>
          <a:xfrm>
            <a:off x="3309582" y="3807735"/>
            <a:ext cx="1774209" cy="369332"/>
          </a:xfrm>
          <a:prstGeom prst="rect">
            <a:avLst/>
          </a:prstGeom>
          <a:noFill/>
        </p:spPr>
        <p:txBody>
          <a:bodyPr wrap="square" rtlCol="0">
            <a:spAutoFit/>
          </a:bodyPr>
          <a:lstStyle/>
          <a:p>
            <a:r>
              <a:rPr lang="en-US" dirty="0" smtClean="0"/>
              <a:t>  ------------------&gt;</a:t>
            </a:r>
            <a:endParaRPr lang="en-IN" dirty="0"/>
          </a:p>
        </p:txBody>
      </p:sp>
      <p:sp>
        <p:nvSpPr>
          <p:cNvPr id="10" name="TextBox 9"/>
          <p:cNvSpPr txBox="1"/>
          <p:nvPr/>
        </p:nvSpPr>
        <p:spPr>
          <a:xfrm>
            <a:off x="5636525" y="3807735"/>
            <a:ext cx="2476278" cy="369332"/>
          </a:xfrm>
          <a:prstGeom prst="rect">
            <a:avLst/>
          </a:prstGeom>
          <a:noFill/>
        </p:spPr>
        <p:txBody>
          <a:bodyPr wrap="square" rtlCol="0">
            <a:spAutoFit/>
          </a:bodyPr>
          <a:lstStyle/>
          <a:p>
            <a:r>
              <a:rPr lang="en-US" dirty="0" smtClean="0"/>
              <a:t>  ----------------------------&gt;</a:t>
            </a:r>
            <a:endParaRPr lang="en-IN" dirty="0"/>
          </a:p>
        </p:txBody>
      </p:sp>
      <p:sp>
        <p:nvSpPr>
          <p:cNvPr id="11" name="TextBox 10"/>
          <p:cNvSpPr txBox="1"/>
          <p:nvPr/>
        </p:nvSpPr>
        <p:spPr>
          <a:xfrm>
            <a:off x="3326642" y="4217589"/>
            <a:ext cx="1774209" cy="369332"/>
          </a:xfrm>
          <a:prstGeom prst="rect">
            <a:avLst/>
          </a:prstGeom>
          <a:noFill/>
        </p:spPr>
        <p:txBody>
          <a:bodyPr wrap="square" rtlCol="0">
            <a:spAutoFit/>
          </a:bodyPr>
          <a:lstStyle/>
          <a:p>
            <a:r>
              <a:rPr lang="en-US" dirty="0" smtClean="0"/>
              <a:t>  &lt;------------------</a:t>
            </a:r>
            <a:endParaRPr lang="en-IN" dirty="0"/>
          </a:p>
        </p:txBody>
      </p:sp>
      <p:sp>
        <p:nvSpPr>
          <p:cNvPr id="12" name="TextBox 11"/>
          <p:cNvSpPr txBox="1"/>
          <p:nvPr/>
        </p:nvSpPr>
        <p:spPr>
          <a:xfrm>
            <a:off x="5663823" y="4086672"/>
            <a:ext cx="2448979" cy="369332"/>
          </a:xfrm>
          <a:prstGeom prst="rect">
            <a:avLst/>
          </a:prstGeom>
          <a:noFill/>
        </p:spPr>
        <p:txBody>
          <a:bodyPr wrap="square" rtlCol="0">
            <a:spAutoFit/>
          </a:bodyPr>
          <a:lstStyle/>
          <a:p>
            <a:r>
              <a:rPr lang="en-US" dirty="0" smtClean="0"/>
              <a:t>  &lt;----------------------------</a:t>
            </a:r>
            <a:endParaRPr lang="en-IN" dirty="0"/>
          </a:p>
        </p:txBody>
      </p:sp>
      <p:sp>
        <p:nvSpPr>
          <p:cNvPr id="13" name="TextBox 12"/>
          <p:cNvSpPr txBox="1"/>
          <p:nvPr/>
        </p:nvSpPr>
        <p:spPr>
          <a:xfrm>
            <a:off x="8460820" y="3971509"/>
            <a:ext cx="1569492" cy="369332"/>
          </a:xfrm>
          <a:prstGeom prst="rect">
            <a:avLst/>
          </a:prstGeom>
          <a:noFill/>
        </p:spPr>
        <p:txBody>
          <a:bodyPr wrap="square" rtlCol="0">
            <a:spAutoFit/>
          </a:bodyPr>
          <a:lstStyle/>
          <a:p>
            <a:r>
              <a:rPr lang="en-US" dirty="0" smtClean="0"/>
              <a:t>      -----------|</a:t>
            </a:r>
            <a:endParaRPr lang="en-IN" dirty="0"/>
          </a:p>
        </p:txBody>
      </p:sp>
      <p:sp>
        <p:nvSpPr>
          <p:cNvPr id="18" name="TextBox 17"/>
          <p:cNvSpPr txBox="1"/>
          <p:nvPr/>
        </p:nvSpPr>
        <p:spPr>
          <a:xfrm>
            <a:off x="2348865" y="4623400"/>
            <a:ext cx="813043" cy="646331"/>
          </a:xfrm>
          <a:prstGeom prst="rect">
            <a:avLst/>
          </a:prstGeom>
          <a:noFill/>
        </p:spPr>
        <p:txBody>
          <a:bodyPr wrap="none" rtlCol="0">
            <a:spAutoFit/>
          </a:bodyPr>
          <a:lstStyle/>
          <a:p>
            <a:r>
              <a:rPr lang="en-US" dirty="0" smtClean="0"/>
              <a:t>head |</a:t>
            </a:r>
            <a:endParaRPr lang="en-US" dirty="0" smtClean="0"/>
          </a:p>
          <a:p>
            <a:endParaRPr lang="en-IN" dirty="0"/>
          </a:p>
        </p:txBody>
      </p:sp>
      <p:sp>
        <p:nvSpPr>
          <p:cNvPr id="19" name="TextBox 18"/>
          <p:cNvSpPr txBox="1"/>
          <p:nvPr/>
        </p:nvSpPr>
        <p:spPr>
          <a:xfrm>
            <a:off x="2861826" y="4579255"/>
            <a:ext cx="300082" cy="369332"/>
          </a:xfrm>
          <a:prstGeom prst="rect">
            <a:avLst/>
          </a:prstGeom>
          <a:noFill/>
        </p:spPr>
        <p:txBody>
          <a:bodyPr wrap="none" rtlCol="0">
            <a:spAutoFit/>
          </a:bodyPr>
          <a:lstStyle/>
          <a:p>
            <a:r>
              <a:rPr lang="en-US" dirty="0" smtClean="0"/>
              <a:t>^</a:t>
            </a:r>
            <a:endParaRPr lang="en-IN" dirty="0"/>
          </a:p>
        </p:txBody>
      </p:sp>
      <p:sp>
        <p:nvSpPr>
          <p:cNvPr id="20" name="Flowchart: Predefined Process 19"/>
          <p:cNvSpPr/>
          <p:nvPr/>
        </p:nvSpPr>
        <p:spPr>
          <a:xfrm>
            <a:off x="6349225" y="5029631"/>
            <a:ext cx="1078174" cy="819708"/>
          </a:xfrm>
          <a:prstGeom prst="flowChartPredefinedProcess">
            <a:avLst/>
          </a:prstGeom>
          <a:solidFill>
            <a:srgbClr val="FFFF99"/>
          </a:solid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cxnSp>
        <p:nvCxnSpPr>
          <p:cNvPr id="43" name="Straight Arrow Connector 42"/>
          <p:cNvCxnSpPr/>
          <p:nvPr/>
        </p:nvCxnSpPr>
        <p:spPr>
          <a:xfrm>
            <a:off x="5834417" y="4472432"/>
            <a:ext cx="514808" cy="58811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5" name="Straight Arrow Connector 44"/>
          <p:cNvCxnSpPr/>
          <p:nvPr/>
        </p:nvCxnSpPr>
        <p:spPr>
          <a:xfrm flipH="1" flipV="1">
            <a:off x="5834417" y="4643871"/>
            <a:ext cx="514808" cy="62586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3" name="Straight Arrow Connector 52"/>
          <p:cNvCxnSpPr/>
          <p:nvPr/>
        </p:nvCxnSpPr>
        <p:spPr>
          <a:xfrm flipV="1">
            <a:off x="7427399" y="4660299"/>
            <a:ext cx="514808" cy="60943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7" name="Straight Arrow Connector 56"/>
          <p:cNvCxnSpPr>
            <a:stCxn id="3" idx="3"/>
          </p:cNvCxnSpPr>
          <p:nvPr/>
        </p:nvCxnSpPr>
        <p:spPr>
          <a:xfrm flipH="1">
            <a:off x="7427398" y="4442777"/>
            <a:ext cx="529246" cy="63504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0" name="TextBox 59"/>
          <p:cNvSpPr txBox="1"/>
          <p:nvPr/>
        </p:nvSpPr>
        <p:spPr>
          <a:xfrm>
            <a:off x="838200" y="1815436"/>
            <a:ext cx="9703558" cy="675640"/>
          </a:xfrm>
          <a:prstGeom prst="rect">
            <a:avLst/>
          </a:prstGeom>
          <a:noFill/>
        </p:spPr>
        <p:txBody>
          <a:bodyPr wrap="square" rtlCol="0">
            <a:spAutoFit/>
          </a:bodyPr>
          <a:lstStyle/>
          <a:p>
            <a:r>
              <a:rPr lang="en-US" dirty="0">
                <a:latin typeface="Cambria Math" panose="02040503050406030204" charset="0"/>
                <a:ea typeface="Artifakt Element Book" panose="020B0503050000020004" pitchFamily="34" charset="0"/>
                <a:cs typeface="Cambria Math" panose="02040503050406030204" charset="0"/>
              </a:rPr>
              <a:t>Inserting a node in </a:t>
            </a:r>
            <a:r>
              <a:rPr lang="en-US" sz="2000" dirty="0">
                <a:latin typeface="Cambria Math" panose="02040503050406030204" charset="0"/>
                <a:ea typeface="Artifakt Element Book" panose="020B0503050000020004" pitchFamily="34" charset="0"/>
                <a:cs typeface="Cambria Math" panose="02040503050406030204" charset="0"/>
              </a:rPr>
              <a:t>the</a:t>
            </a:r>
            <a:r>
              <a:rPr lang="en-US" dirty="0">
                <a:latin typeface="Cambria Math" panose="02040503050406030204" charset="0"/>
                <a:ea typeface="Artifakt Element Book" panose="020B0503050000020004" pitchFamily="34" charset="0"/>
                <a:cs typeface="Cambria Math" panose="02040503050406030204" charset="0"/>
              </a:rPr>
              <a:t> middle requires navigating to the target position and re-routing the adjacent pointers to bridge the new element into the chain.</a:t>
            </a:r>
            <a:endParaRPr lang="en-IN" dirty="0">
              <a:latin typeface="Cambria Math" panose="02040503050406030204" charset="0"/>
              <a:ea typeface="Artifakt Element Book" panose="020B0503050000020004" pitchFamily="34" charset="0"/>
              <a:cs typeface="Cambria Math" panose="02040503050406030204" charset="0"/>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7"/>
                                        </p:tgtEl>
                                        <p:attrNameLst>
                                          <p:attrName>style.visibility</p:attrName>
                                        </p:attrNameLst>
                                      </p:cBhvr>
                                      <p:to>
                                        <p:strVal val="visible"/>
                                      </p:to>
                                    </p:set>
                                  </p:childTnLst>
                                </p:cTn>
                              </p:par>
                            </p:childTnLst>
                          </p:cTn>
                        </p:par>
                        <p:par>
                          <p:cTn id="23" fill="hold">
                            <p:stCondLst>
                              <p:cond delay="0"/>
                            </p:stCondLst>
                            <p:childTnLst>
                              <p:par>
                                <p:cTn id="24" presetID="22" presetClass="exit" presetSubtype="4" fill="hold" grpId="0" nodeType="afterEffect">
                                  <p:stCondLst>
                                    <p:cond delay="0"/>
                                  </p:stCondLst>
                                  <p:childTnLst>
                                    <p:animEffect transition="out" filter="wipe(down)">
                                      <p:cBhvr>
                                        <p:cTn id="25" dur="500"/>
                                        <p:tgtEl>
                                          <p:spTgt spid="10"/>
                                        </p:tgtEl>
                                      </p:cBhvr>
                                    </p:animEffect>
                                    <p:set>
                                      <p:cBhvr>
                                        <p:cTn id="26" dur="1" fill="hold">
                                          <p:stCondLst>
                                            <p:cond delay="499"/>
                                          </p:stCondLst>
                                        </p:cTn>
                                        <p:tgtEl>
                                          <p:spTgt spid="10"/>
                                        </p:tgtEl>
                                        <p:attrNameLst>
                                          <p:attrName>style.visibility</p:attrName>
                                        </p:attrNameLst>
                                      </p:cBhvr>
                                      <p:to>
                                        <p:strVal val="hidden"/>
                                      </p:to>
                                    </p:set>
                                  </p:childTnLst>
                                </p:cTn>
                              </p:par>
                            </p:childTnLst>
                          </p:cTn>
                        </p:par>
                        <p:par>
                          <p:cTn id="27" fill="hold">
                            <p:stCondLst>
                              <p:cond delay="500"/>
                            </p:stCondLst>
                            <p:childTnLst>
                              <p:par>
                                <p:cTn id="28" presetID="22" presetClass="exit" presetSubtype="4" fill="hold" grpId="0" nodeType="afterEffect">
                                  <p:stCondLst>
                                    <p:cond delay="0"/>
                                  </p:stCondLst>
                                  <p:childTnLst>
                                    <p:animEffect transition="out" filter="wipe(down)">
                                      <p:cBhvr>
                                        <p:cTn id="29" dur="500"/>
                                        <p:tgtEl>
                                          <p:spTgt spid="12"/>
                                        </p:tgtEl>
                                      </p:cBhvr>
                                    </p:animEffect>
                                    <p:set>
                                      <p:cBhvr>
                                        <p:cTn id="30"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2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5925" y="513344"/>
            <a:ext cx="10515600" cy="1325563"/>
          </a:xfrm>
        </p:spPr>
        <p:txBody>
          <a:bodyPr/>
          <a:lstStyle/>
          <a:p>
            <a:r>
              <a:rPr lang="en-US" b="1" dirty="0" smtClean="0">
                <a:latin typeface="Bradley Hand ITC" panose="03070402050302030203" pitchFamily="66" charset="0"/>
              </a:rPr>
              <a:t>Op 4: Deleting a node</a:t>
            </a:r>
            <a:endParaRPr lang="en-IN" b="1" dirty="0">
              <a:latin typeface="Bradley Hand ITC" panose="03070402050302030203" pitchFamily="66" charset="0"/>
            </a:endParaRPr>
          </a:p>
        </p:txBody>
      </p:sp>
      <p:sp>
        <p:nvSpPr>
          <p:cNvPr id="3" name="TextBox 2"/>
          <p:cNvSpPr txBox="1"/>
          <p:nvPr/>
        </p:nvSpPr>
        <p:spPr>
          <a:xfrm>
            <a:off x="2361057" y="4408231"/>
            <a:ext cx="5322627" cy="369332"/>
          </a:xfrm>
          <a:prstGeom prst="rect">
            <a:avLst/>
          </a:prstGeom>
          <a:noFill/>
        </p:spPr>
        <p:txBody>
          <a:bodyPr wrap="square" rtlCol="0">
            <a:spAutoFit/>
          </a:bodyPr>
          <a:lstStyle/>
          <a:p>
            <a:r>
              <a:rPr lang="en-US" dirty="0" smtClean="0"/>
              <a:t> </a:t>
            </a:r>
            <a:endParaRPr lang="en-IN" dirty="0"/>
          </a:p>
        </p:txBody>
      </p:sp>
      <p:sp>
        <p:nvSpPr>
          <p:cNvPr id="4" name="Flowchart: Predefined Process 3"/>
          <p:cNvSpPr/>
          <p:nvPr/>
        </p:nvSpPr>
        <p:spPr>
          <a:xfrm>
            <a:off x="2156341" y="3957855"/>
            <a:ext cx="1078174" cy="819708"/>
          </a:xfrm>
          <a:prstGeom prst="flowChartPredefinedProcess">
            <a:avLst/>
          </a:prstGeom>
          <a:solidFill>
            <a:srgbClr val="FFFF99"/>
          </a:solid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 name="TextBox 4"/>
          <p:cNvSpPr txBox="1"/>
          <p:nvPr/>
        </p:nvSpPr>
        <p:spPr>
          <a:xfrm>
            <a:off x="4449165" y="4162572"/>
            <a:ext cx="1310185" cy="369332"/>
          </a:xfrm>
          <a:prstGeom prst="rect">
            <a:avLst/>
          </a:prstGeom>
          <a:noFill/>
        </p:spPr>
        <p:txBody>
          <a:bodyPr wrap="square" rtlCol="0">
            <a:spAutoFit/>
          </a:bodyPr>
          <a:lstStyle/>
          <a:p>
            <a:r>
              <a:rPr lang="en-US" dirty="0" smtClean="0"/>
              <a:t> </a:t>
            </a:r>
            <a:endParaRPr lang="en-IN" dirty="0"/>
          </a:p>
        </p:txBody>
      </p:sp>
      <p:sp>
        <p:nvSpPr>
          <p:cNvPr id="6" name="Flowchart: Predefined Process 5"/>
          <p:cNvSpPr/>
          <p:nvPr/>
        </p:nvSpPr>
        <p:spPr>
          <a:xfrm>
            <a:off x="4612939" y="3957855"/>
            <a:ext cx="948518" cy="819708"/>
          </a:xfrm>
          <a:prstGeom prst="flowChartPredefinedProcess">
            <a:avLst/>
          </a:prstGeom>
          <a:solidFill>
            <a:srgbClr val="FFFF99"/>
          </a:solid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7" name="Flowchart: Predefined Process 6"/>
          <p:cNvSpPr/>
          <p:nvPr/>
        </p:nvSpPr>
        <p:spPr>
          <a:xfrm>
            <a:off x="6974000" y="3957855"/>
            <a:ext cx="948518" cy="819708"/>
          </a:xfrm>
          <a:prstGeom prst="flowChartPredefinedProcess">
            <a:avLst/>
          </a:prstGeom>
          <a:solidFill>
            <a:srgbClr val="FFFF99"/>
          </a:solid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8" name="TextBox 7"/>
          <p:cNvSpPr txBox="1"/>
          <p:nvPr/>
        </p:nvSpPr>
        <p:spPr>
          <a:xfrm>
            <a:off x="3036622" y="3957855"/>
            <a:ext cx="1774209" cy="369332"/>
          </a:xfrm>
          <a:prstGeom prst="rect">
            <a:avLst/>
          </a:prstGeom>
          <a:noFill/>
        </p:spPr>
        <p:txBody>
          <a:bodyPr wrap="square" rtlCol="0">
            <a:spAutoFit/>
          </a:bodyPr>
          <a:lstStyle/>
          <a:p>
            <a:r>
              <a:rPr lang="en-US" dirty="0" smtClean="0"/>
              <a:t>  ------------------&gt;</a:t>
            </a:r>
            <a:endParaRPr lang="en-IN" dirty="0"/>
          </a:p>
        </p:txBody>
      </p:sp>
      <p:sp>
        <p:nvSpPr>
          <p:cNvPr id="9" name="TextBox 8"/>
          <p:cNvSpPr txBox="1"/>
          <p:nvPr/>
        </p:nvSpPr>
        <p:spPr>
          <a:xfrm>
            <a:off x="5363565" y="3957855"/>
            <a:ext cx="1774209" cy="369332"/>
          </a:xfrm>
          <a:prstGeom prst="rect">
            <a:avLst/>
          </a:prstGeom>
          <a:noFill/>
        </p:spPr>
        <p:txBody>
          <a:bodyPr wrap="square" rtlCol="0">
            <a:spAutoFit/>
          </a:bodyPr>
          <a:lstStyle/>
          <a:p>
            <a:r>
              <a:rPr lang="en-US" dirty="0" smtClean="0"/>
              <a:t>  ------------------&gt;</a:t>
            </a:r>
            <a:endParaRPr lang="en-IN" dirty="0"/>
          </a:p>
        </p:txBody>
      </p:sp>
      <p:sp>
        <p:nvSpPr>
          <p:cNvPr id="10" name="TextBox 9"/>
          <p:cNvSpPr txBox="1"/>
          <p:nvPr/>
        </p:nvSpPr>
        <p:spPr>
          <a:xfrm>
            <a:off x="3053682" y="4367709"/>
            <a:ext cx="1774209" cy="369332"/>
          </a:xfrm>
          <a:prstGeom prst="rect">
            <a:avLst/>
          </a:prstGeom>
          <a:noFill/>
        </p:spPr>
        <p:txBody>
          <a:bodyPr wrap="square" rtlCol="0">
            <a:spAutoFit/>
          </a:bodyPr>
          <a:lstStyle/>
          <a:p>
            <a:r>
              <a:rPr lang="en-US" dirty="0" smtClean="0"/>
              <a:t>  &lt;------------------</a:t>
            </a:r>
            <a:endParaRPr lang="en-IN" dirty="0"/>
          </a:p>
        </p:txBody>
      </p:sp>
      <p:sp>
        <p:nvSpPr>
          <p:cNvPr id="11" name="TextBox 10"/>
          <p:cNvSpPr txBox="1"/>
          <p:nvPr/>
        </p:nvSpPr>
        <p:spPr>
          <a:xfrm>
            <a:off x="5390863" y="4360043"/>
            <a:ext cx="1774209" cy="369332"/>
          </a:xfrm>
          <a:prstGeom prst="rect">
            <a:avLst/>
          </a:prstGeom>
          <a:noFill/>
        </p:spPr>
        <p:txBody>
          <a:bodyPr wrap="square" rtlCol="0">
            <a:spAutoFit/>
          </a:bodyPr>
          <a:lstStyle/>
          <a:p>
            <a:r>
              <a:rPr lang="en-US" dirty="0" smtClean="0"/>
              <a:t>  &lt;------------------</a:t>
            </a:r>
            <a:endParaRPr lang="en-IN" dirty="0"/>
          </a:p>
        </p:txBody>
      </p:sp>
      <p:sp>
        <p:nvSpPr>
          <p:cNvPr id="12" name="TextBox 11"/>
          <p:cNvSpPr txBox="1"/>
          <p:nvPr/>
        </p:nvSpPr>
        <p:spPr>
          <a:xfrm>
            <a:off x="9814727" y="4142521"/>
            <a:ext cx="1569492" cy="369332"/>
          </a:xfrm>
          <a:prstGeom prst="rect">
            <a:avLst/>
          </a:prstGeom>
          <a:noFill/>
        </p:spPr>
        <p:txBody>
          <a:bodyPr wrap="square" rtlCol="0">
            <a:spAutoFit/>
          </a:bodyPr>
          <a:lstStyle/>
          <a:p>
            <a:r>
              <a:rPr lang="en-US" dirty="0" smtClean="0"/>
              <a:t>      -----------|</a:t>
            </a:r>
            <a:endParaRPr lang="en-IN" dirty="0"/>
          </a:p>
        </p:txBody>
      </p:sp>
      <p:sp>
        <p:nvSpPr>
          <p:cNvPr id="17" name="TextBox 16"/>
          <p:cNvSpPr txBox="1"/>
          <p:nvPr/>
        </p:nvSpPr>
        <p:spPr>
          <a:xfrm>
            <a:off x="2075909" y="4787168"/>
            <a:ext cx="813043" cy="646331"/>
          </a:xfrm>
          <a:prstGeom prst="rect">
            <a:avLst/>
          </a:prstGeom>
          <a:noFill/>
        </p:spPr>
        <p:txBody>
          <a:bodyPr wrap="none" rtlCol="0">
            <a:spAutoFit/>
          </a:bodyPr>
          <a:lstStyle/>
          <a:p>
            <a:r>
              <a:rPr lang="en-US" dirty="0" smtClean="0"/>
              <a:t>head |</a:t>
            </a:r>
            <a:endParaRPr lang="en-US" dirty="0" smtClean="0"/>
          </a:p>
          <a:p>
            <a:endParaRPr lang="en-IN" dirty="0"/>
          </a:p>
        </p:txBody>
      </p:sp>
      <p:sp>
        <p:nvSpPr>
          <p:cNvPr id="18" name="TextBox 17"/>
          <p:cNvSpPr txBox="1"/>
          <p:nvPr/>
        </p:nvSpPr>
        <p:spPr>
          <a:xfrm>
            <a:off x="2588866" y="4729375"/>
            <a:ext cx="300082" cy="369332"/>
          </a:xfrm>
          <a:prstGeom prst="rect">
            <a:avLst/>
          </a:prstGeom>
          <a:noFill/>
        </p:spPr>
        <p:txBody>
          <a:bodyPr wrap="none" rtlCol="0">
            <a:spAutoFit/>
          </a:bodyPr>
          <a:lstStyle/>
          <a:p>
            <a:r>
              <a:rPr lang="en-US" dirty="0" smtClean="0"/>
              <a:t>^</a:t>
            </a:r>
            <a:endParaRPr lang="en-IN" dirty="0"/>
          </a:p>
        </p:txBody>
      </p:sp>
      <p:sp>
        <p:nvSpPr>
          <p:cNvPr id="19" name="TextBox 18"/>
          <p:cNvSpPr txBox="1"/>
          <p:nvPr/>
        </p:nvSpPr>
        <p:spPr>
          <a:xfrm>
            <a:off x="835925" y="4158949"/>
            <a:ext cx="1569492" cy="369332"/>
          </a:xfrm>
          <a:prstGeom prst="rect">
            <a:avLst/>
          </a:prstGeom>
          <a:noFill/>
        </p:spPr>
        <p:txBody>
          <a:bodyPr wrap="square" rtlCol="0">
            <a:spAutoFit/>
          </a:bodyPr>
          <a:lstStyle/>
          <a:p>
            <a:r>
              <a:rPr lang="en-US" dirty="0" smtClean="0"/>
              <a:t>     |------------</a:t>
            </a:r>
            <a:endParaRPr lang="en-IN" dirty="0"/>
          </a:p>
        </p:txBody>
      </p:sp>
      <p:sp>
        <p:nvSpPr>
          <p:cNvPr id="20" name="Flowchart: Predefined Process 19"/>
          <p:cNvSpPr/>
          <p:nvPr/>
        </p:nvSpPr>
        <p:spPr>
          <a:xfrm>
            <a:off x="9268817" y="3950189"/>
            <a:ext cx="948518" cy="819708"/>
          </a:xfrm>
          <a:prstGeom prst="flowChartPredefinedProcess">
            <a:avLst/>
          </a:prstGeom>
          <a:solidFill>
            <a:srgbClr val="FFFF99"/>
          </a:solid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1" name="TextBox 20"/>
          <p:cNvSpPr txBox="1"/>
          <p:nvPr/>
        </p:nvSpPr>
        <p:spPr>
          <a:xfrm>
            <a:off x="7765577" y="3999220"/>
            <a:ext cx="1774209" cy="369332"/>
          </a:xfrm>
          <a:prstGeom prst="rect">
            <a:avLst/>
          </a:prstGeom>
          <a:noFill/>
        </p:spPr>
        <p:txBody>
          <a:bodyPr wrap="square" rtlCol="0">
            <a:spAutoFit/>
          </a:bodyPr>
          <a:lstStyle/>
          <a:p>
            <a:r>
              <a:rPr lang="en-US" dirty="0" smtClean="0"/>
              <a:t>  -----------------&gt;</a:t>
            </a:r>
            <a:endParaRPr lang="en-IN" dirty="0"/>
          </a:p>
        </p:txBody>
      </p:sp>
      <p:sp>
        <p:nvSpPr>
          <p:cNvPr id="22" name="TextBox 21"/>
          <p:cNvSpPr txBox="1"/>
          <p:nvPr/>
        </p:nvSpPr>
        <p:spPr>
          <a:xfrm>
            <a:off x="7738278" y="4364087"/>
            <a:ext cx="1774209" cy="369332"/>
          </a:xfrm>
          <a:prstGeom prst="rect">
            <a:avLst/>
          </a:prstGeom>
          <a:noFill/>
        </p:spPr>
        <p:txBody>
          <a:bodyPr wrap="square" rtlCol="0">
            <a:spAutoFit/>
          </a:bodyPr>
          <a:lstStyle/>
          <a:p>
            <a:r>
              <a:rPr lang="en-US" dirty="0" smtClean="0"/>
              <a:t>  &lt;------------------</a:t>
            </a:r>
            <a:endParaRPr lang="en-IN" dirty="0"/>
          </a:p>
        </p:txBody>
      </p:sp>
      <p:cxnSp>
        <p:nvCxnSpPr>
          <p:cNvPr id="24" name="Straight Arrow Connector 23"/>
          <p:cNvCxnSpPr/>
          <p:nvPr/>
        </p:nvCxnSpPr>
        <p:spPr>
          <a:xfrm>
            <a:off x="3195984" y="4017985"/>
            <a:ext cx="3707359" cy="1065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p:cNvCxnSpPr/>
          <p:nvPr/>
        </p:nvCxnSpPr>
        <p:spPr>
          <a:xfrm flipH="1">
            <a:off x="3234515" y="4671162"/>
            <a:ext cx="3739485" cy="2131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9" name="TextBox 28"/>
          <p:cNvSpPr txBox="1"/>
          <p:nvPr/>
        </p:nvSpPr>
        <p:spPr>
          <a:xfrm>
            <a:off x="1105469" y="2088107"/>
            <a:ext cx="9212238" cy="829945"/>
          </a:xfrm>
          <a:prstGeom prst="rect">
            <a:avLst/>
          </a:prstGeom>
          <a:noFill/>
        </p:spPr>
        <p:txBody>
          <a:bodyPr wrap="square" rtlCol="0">
            <a:spAutoFit/>
          </a:bodyPr>
          <a:lstStyle/>
          <a:p>
            <a:r>
              <a:rPr lang="en-US" sz="2400" dirty="0">
                <a:latin typeface="Cambria Math" panose="02040503050406030204" charset="0"/>
                <a:ea typeface="Artifakt Element Book" panose="020B0503050000020004" pitchFamily="34" charset="0"/>
                <a:cs typeface="Cambria Math" panose="02040503050406030204" charset="0"/>
              </a:rPr>
              <a:t>Deleting a node involves bypassing it by re-routing the preceding node's pointer to skip the target element.</a:t>
            </a:r>
            <a:endParaRPr lang="en-US" sz="2400" dirty="0">
              <a:latin typeface="Cambria Math" panose="02040503050406030204" charset="0"/>
              <a:ea typeface="Artifakt Element Book" panose="020B0503050000020004" pitchFamily="34" charset="0"/>
              <a:cs typeface="Cambria Math" panose="02040503050406030204" charset="0"/>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par>
                          <p:cTn id="11" fill="hold">
                            <p:stCondLst>
                              <p:cond delay="0"/>
                            </p:stCondLst>
                            <p:childTnLst>
                              <p:par>
                                <p:cTn id="12" presetID="22" presetClass="exit" presetSubtype="4" fill="hold" grpId="0" nodeType="afterEffect">
                                  <p:stCondLst>
                                    <p:cond delay="0"/>
                                  </p:stCondLst>
                                  <p:childTnLst>
                                    <p:animEffect transition="out" filter="wipe(down)">
                                      <p:cBhvr>
                                        <p:cTn id="13" dur="250"/>
                                        <p:tgtEl>
                                          <p:spTgt spid="6"/>
                                        </p:tgtEl>
                                      </p:cBhvr>
                                    </p:animEffect>
                                    <p:set>
                                      <p:cBhvr>
                                        <p:cTn id="14" dur="1" fill="hold">
                                          <p:stCondLst>
                                            <p:cond delay="249"/>
                                          </p:stCondLst>
                                        </p:cTn>
                                        <p:tgtEl>
                                          <p:spTgt spid="6"/>
                                        </p:tgtEl>
                                        <p:attrNameLst>
                                          <p:attrName>style.visibility</p:attrName>
                                        </p:attrNameLst>
                                      </p:cBhvr>
                                      <p:to>
                                        <p:strVal val="hidden"/>
                                      </p:to>
                                    </p:set>
                                  </p:childTnLst>
                                </p:cTn>
                              </p:par>
                            </p:childTnLst>
                          </p:cTn>
                        </p:par>
                        <p:par>
                          <p:cTn id="15" fill="hold">
                            <p:stCondLst>
                              <p:cond delay="500"/>
                            </p:stCondLst>
                            <p:childTnLst>
                              <p:par>
                                <p:cTn id="16" presetID="22" presetClass="exit" presetSubtype="4" fill="hold" grpId="0" nodeType="afterEffect">
                                  <p:stCondLst>
                                    <p:cond delay="0"/>
                                  </p:stCondLst>
                                  <p:childTnLst>
                                    <p:animEffect transition="out" filter="wipe(down)">
                                      <p:cBhvr>
                                        <p:cTn id="17" dur="250"/>
                                        <p:tgtEl>
                                          <p:spTgt spid="8"/>
                                        </p:tgtEl>
                                      </p:cBhvr>
                                    </p:animEffect>
                                    <p:set>
                                      <p:cBhvr>
                                        <p:cTn id="18" dur="1" fill="hold">
                                          <p:stCondLst>
                                            <p:cond delay="249"/>
                                          </p:stCondLst>
                                        </p:cTn>
                                        <p:tgtEl>
                                          <p:spTgt spid="8"/>
                                        </p:tgtEl>
                                        <p:attrNameLst>
                                          <p:attrName>style.visibility</p:attrName>
                                        </p:attrNameLst>
                                      </p:cBhvr>
                                      <p:to>
                                        <p:strVal val="hidden"/>
                                      </p:to>
                                    </p:set>
                                  </p:childTnLst>
                                </p:cTn>
                              </p:par>
                            </p:childTnLst>
                          </p:cTn>
                        </p:par>
                        <p:par>
                          <p:cTn id="19" fill="hold">
                            <p:stCondLst>
                              <p:cond delay="1000"/>
                            </p:stCondLst>
                            <p:childTnLst>
                              <p:par>
                                <p:cTn id="20" presetID="22" presetClass="exit" presetSubtype="4" fill="hold" grpId="0" nodeType="afterEffect">
                                  <p:stCondLst>
                                    <p:cond delay="0"/>
                                  </p:stCondLst>
                                  <p:childTnLst>
                                    <p:animEffect transition="out" filter="wipe(down)">
                                      <p:cBhvr>
                                        <p:cTn id="21" dur="250"/>
                                        <p:tgtEl>
                                          <p:spTgt spid="10"/>
                                        </p:tgtEl>
                                      </p:cBhvr>
                                    </p:animEffect>
                                    <p:set>
                                      <p:cBhvr>
                                        <p:cTn id="22" dur="1" fill="hold">
                                          <p:stCondLst>
                                            <p:cond delay="249"/>
                                          </p:stCondLst>
                                        </p:cTn>
                                        <p:tgtEl>
                                          <p:spTgt spid="10"/>
                                        </p:tgtEl>
                                        <p:attrNameLst>
                                          <p:attrName>style.visibility</p:attrName>
                                        </p:attrNameLst>
                                      </p:cBhvr>
                                      <p:to>
                                        <p:strVal val="hidden"/>
                                      </p:to>
                                    </p:set>
                                  </p:childTnLst>
                                </p:cTn>
                              </p:par>
                            </p:childTnLst>
                          </p:cTn>
                        </p:par>
                        <p:par>
                          <p:cTn id="23" fill="hold">
                            <p:stCondLst>
                              <p:cond delay="1500"/>
                            </p:stCondLst>
                            <p:childTnLst>
                              <p:par>
                                <p:cTn id="24" presetID="22" presetClass="exit" presetSubtype="4" fill="hold" grpId="0" nodeType="afterEffect">
                                  <p:stCondLst>
                                    <p:cond delay="0"/>
                                  </p:stCondLst>
                                  <p:childTnLst>
                                    <p:animEffect transition="out" filter="wipe(down)">
                                      <p:cBhvr>
                                        <p:cTn id="25" dur="250"/>
                                        <p:tgtEl>
                                          <p:spTgt spid="11"/>
                                        </p:tgtEl>
                                      </p:cBhvr>
                                    </p:animEffect>
                                    <p:set>
                                      <p:cBhvr>
                                        <p:cTn id="26" dur="1" fill="hold">
                                          <p:stCondLst>
                                            <p:cond delay="249"/>
                                          </p:stCondLst>
                                        </p:cTn>
                                        <p:tgtEl>
                                          <p:spTgt spid="11"/>
                                        </p:tgtEl>
                                        <p:attrNameLst>
                                          <p:attrName>style.visibility</p:attrName>
                                        </p:attrNameLst>
                                      </p:cBhvr>
                                      <p:to>
                                        <p:strVal val="hidden"/>
                                      </p:to>
                                    </p:set>
                                  </p:childTnLst>
                                </p:cTn>
                              </p:par>
                            </p:childTnLst>
                          </p:cTn>
                        </p:par>
                        <p:par>
                          <p:cTn id="27" fill="hold">
                            <p:stCondLst>
                              <p:cond delay="2000"/>
                            </p:stCondLst>
                            <p:childTnLst>
                              <p:par>
                                <p:cTn id="28" presetID="22" presetClass="exit" presetSubtype="4" fill="hold" grpId="0" nodeType="afterEffect">
                                  <p:stCondLst>
                                    <p:cond delay="0"/>
                                  </p:stCondLst>
                                  <p:childTnLst>
                                    <p:animEffect transition="out" filter="wipe(down)">
                                      <p:cBhvr>
                                        <p:cTn id="29" dur="250"/>
                                        <p:tgtEl>
                                          <p:spTgt spid="9"/>
                                        </p:tgtEl>
                                      </p:cBhvr>
                                    </p:animEffect>
                                    <p:set>
                                      <p:cBhvr>
                                        <p:cTn id="30" dur="1" fill="hold">
                                          <p:stCondLst>
                                            <p:cond delay="24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p:bldP spid="9" grpId="0"/>
      <p:bldP spid="10"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Bradley Hand ITC" panose="03070402050302030203" pitchFamily="66" charset="0"/>
              </a:rPr>
              <a:t>Op 5: Reversal of a linked list</a:t>
            </a:r>
            <a:endParaRPr lang="en-IN" b="1" dirty="0">
              <a:latin typeface="Bradley Hand ITC" panose="03070402050302030203" pitchFamily="66" charset="0"/>
            </a:endParaRPr>
          </a:p>
        </p:txBody>
      </p:sp>
      <p:sp>
        <p:nvSpPr>
          <p:cNvPr id="4" name="Rectangle 1"/>
          <p:cNvSpPr>
            <a:spLocks noChangeArrowheads="1"/>
          </p:cNvSpPr>
          <p:nvPr/>
        </p:nvSpPr>
        <p:spPr bwMode="auto">
          <a:xfrm>
            <a:off x="1009934" y="2335368"/>
            <a:ext cx="10343866" cy="26308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i="0" u="none" strike="noStrike" cap="none" normalizeH="0" baseline="0" dirty="0" smtClean="0">
                <a:ln>
                  <a:noFill/>
                </a:ln>
                <a:solidFill>
                  <a:schemeClr val="tx1"/>
                </a:solidFill>
                <a:effectLst/>
                <a:latin typeface="Cambria Math" panose="02040503050406030204" charset="0"/>
                <a:ea typeface="Artifakt Element Book" panose="020B0503050000020004" pitchFamily="34" charset="0"/>
                <a:cs typeface="Cambria Math" panose="02040503050406030204" charset="0"/>
              </a:rPr>
              <a:t>Direction Flip: Reverses all pointers so the tail becomes the new head.</a:t>
            </a:r>
            <a:endParaRPr kumimoji="0" lang="en-US" altLang="en-US" sz="2400" i="0" u="none" strike="noStrike" cap="none" normalizeH="0" baseline="0" dirty="0" smtClean="0">
              <a:ln>
                <a:noFill/>
              </a:ln>
              <a:solidFill>
                <a:schemeClr val="tx1"/>
              </a:solidFill>
              <a:effectLst/>
              <a:latin typeface="Cambria Math" panose="02040503050406030204" charset="0"/>
              <a:ea typeface="Artifakt Element Book" panose="020B0503050000020004" pitchFamily="34" charset="0"/>
              <a:cs typeface="Cambria Math" panose="0204050305040603020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2400" i="0" u="none" strike="noStrike" cap="none" normalizeH="0" baseline="0" dirty="0" smtClean="0">
              <a:ln>
                <a:noFill/>
              </a:ln>
              <a:solidFill>
                <a:schemeClr val="tx1"/>
              </a:solidFill>
              <a:effectLst/>
              <a:latin typeface="Cambria Math" panose="02040503050406030204" charset="0"/>
              <a:ea typeface="Artifakt Element Book" panose="020B0503050000020004" pitchFamily="34" charset="0"/>
              <a:cs typeface="Cambria Math" panose="0204050305040603020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i="0" u="none" strike="noStrike" cap="none" normalizeH="0" baseline="0" dirty="0" smtClean="0">
                <a:ln>
                  <a:noFill/>
                </a:ln>
                <a:solidFill>
                  <a:schemeClr val="tx1"/>
                </a:solidFill>
                <a:effectLst/>
                <a:latin typeface="Cambria Math" panose="02040503050406030204" charset="0"/>
                <a:ea typeface="Artifakt Element Book" panose="020B0503050000020004" pitchFamily="34" charset="0"/>
                <a:cs typeface="Cambria Math" panose="02040503050406030204" charset="0"/>
              </a:rPr>
              <a:t>Three Pointers: Uses prev, current, and next during traversal.</a:t>
            </a:r>
            <a:endParaRPr kumimoji="0" lang="en-US" altLang="en-US" sz="2400" i="0" u="none" strike="noStrike" cap="none" normalizeH="0" baseline="0" dirty="0" smtClean="0">
              <a:ln>
                <a:noFill/>
              </a:ln>
              <a:solidFill>
                <a:schemeClr val="tx1"/>
              </a:solidFill>
              <a:effectLst/>
              <a:latin typeface="Cambria Math" panose="02040503050406030204" charset="0"/>
              <a:ea typeface="Artifakt Element Book" panose="020B0503050000020004" pitchFamily="34" charset="0"/>
              <a:cs typeface="Cambria Math" panose="0204050305040603020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2400" i="0" u="none" strike="noStrike" cap="none" normalizeH="0" baseline="0" dirty="0" smtClean="0">
              <a:ln>
                <a:noFill/>
              </a:ln>
              <a:solidFill>
                <a:schemeClr val="tx1"/>
              </a:solidFill>
              <a:effectLst/>
              <a:latin typeface="Cambria Math" panose="02040503050406030204" charset="0"/>
              <a:ea typeface="Artifakt Element Book" panose="020B0503050000020004" pitchFamily="34" charset="0"/>
              <a:cs typeface="Cambria Math" panose="0204050305040603020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i="0" u="none" strike="noStrike" cap="none" normalizeH="0" baseline="0" dirty="0" smtClean="0">
                <a:ln>
                  <a:noFill/>
                </a:ln>
                <a:solidFill>
                  <a:schemeClr val="tx1"/>
                </a:solidFill>
                <a:effectLst/>
                <a:latin typeface="Cambria Math" panose="02040503050406030204" charset="0"/>
                <a:ea typeface="Artifakt Element Book" panose="020B0503050000020004" pitchFamily="34" charset="0"/>
                <a:cs typeface="Cambria Math" panose="02040503050406030204" charset="0"/>
              </a:rPr>
              <a:t>Pointer Update: Redirects each node's next link backward.</a:t>
            </a:r>
            <a:endParaRPr kumimoji="0" lang="en-US" altLang="en-US" sz="2400" i="0" u="none" strike="noStrike" cap="none" normalizeH="0" baseline="0" dirty="0" smtClean="0">
              <a:ln>
                <a:noFill/>
              </a:ln>
              <a:solidFill>
                <a:schemeClr val="tx1"/>
              </a:solidFill>
              <a:effectLst/>
              <a:latin typeface="Cambria Math" panose="02040503050406030204" charset="0"/>
              <a:ea typeface="Artifakt Element Book" panose="020B0503050000020004" pitchFamily="34" charset="0"/>
              <a:cs typeface="Cambria Math" panose="0204050305040603020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2400" i="0" u="none" strike="noStrike" cap="none" normalizeH="0" baseline="0" dirty="0" smtClean="0">
              <a:ln>
                <a:noFill/>
              </a:ln>
              <a:solidFill>
                <a:schemeClr val="tx1"/>
              </a:solidFill>
              <a:effectLst/>
              <a:latin typeface="Cambria Math" panose="02040503050406030204" charset="0"/>
              <a:ea typeface="Artifakt Element Book" panose="020B0503050000020004" pitchFamily="34" charset="0"/>
              <a:cs typeface="Cambria Math" panose="0204050305040603020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i="0" u="none" strike="noStrike" cap="none" normalizeH="0" baseline="0" dirty="0" smtClean="0">
                <a:ln>
                  <a:noFill/>
                </a:ln>
                <a:solidFill>
                  <a:schemeClr val="tx1"/>
                </a:solidFill>
                <a:effectLst/>
                <a:latin typeface="Cambria Math" panose="02040503050406030204" charset="0"/>
                <a:ea typeface="Artifakt Element Book" panose="020B0503050000020004" pitchFamily="34" charset="0"/>
                <a:cs typeface="Cambria Math" panose="02040503050406030204" charset="0"/>
              </a:rPr>
              <a:t>Complexity: Runs in O(n) time and O(1) space</a:t>
            </a:r>
            <a:r>
              <a:rPr kumimoji="0" lang="en-US" altLang="en-US" sz="2400" i="0" u="none" strike="noStrike" cap="none" normalizeH="0" baseline="0" dirty="0" smtClean="0">
                <a:ln>
                  <a:noFill/>
                </a:ln>
                <a:solidFill>
                  <a:schemeClr val="tx1"/>
                </a:solidFill>
                <a:effectLst/>
                <a:latin typeface="Artifakt Element Book" panose="020B0503050000020004" pitchFamily="34" charset="0"/>
                <a:ea typeface="Artifakt Element Book" panose="020B0503050000020004" pitchFamily="34" charset="0"/>
              </a:rPr>
              <a:t>.</a:t>
            </a:r>
            <a:endParaRPr kumimoji="0" lang="en-US" altLang="en-US" sz="2400" i="0" u="none" strike="noStrike" cap="none" normalizeH="0" baseline="0" dirty="0" smtClean="0">
              <a:ln>
                <a:noFill/>
              </a:ln>
              <a:solidFill>
                <a:schemeClr val="tx1"/>
              </a:solidFill>
              <a:effectLst/>
              <a:latin typeface="Artifakt Element Book" panose="020B0503050000020004" pitchFamily="34" charset="0"/>
              <a:ea typeface="Artifakt Element Book" panose="020B0503050000020004" pitchFamily="34" charset="0"/>
            </a:endParaRPr>
          </a:p>
        </p:txBody>
      </p:sp>
    </p:spTree>
  </p:cSld>
  <p:clrMapOvr>
    <a:masterClrMapping/>
  </p:clrMapOvr>
  <p:transition spd="med">
    <p:pull/>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33615"/>
            <a:ext cx="10515600" cy="1325563"/>
          </a:xfrm>
        </p:spPr>
        <p:txBody>
          <a:bodyPr/>
          <a:lstStyle/>
          <a:p>
            <a:r>
              <a:rPr lang="en-US" b="1" dirty="0" smtClean="0">
                <a:latin typeface="Bradley Hand ITC" panose="03070402050302030203" pitchFamily="66" charset="0"/>
              </a:rPr>
              <a:t>Op 6: Sorting of a linked list</a:t>
            </a:r>
            <a:endParaRPr lang="en-IN" b="1" dirty="0">
              <a:latin typeface="Bradley Hand ITC" panose="03070402050302030203" pitchFamily="66" charset="0"/>
            </a:endParaRPr>
          </a:p>
        </p:txBody>
      </p:sp>
      <p:sp>
        <p:nvSpPr>
          <p:cNvPr id="5" name="Rectangle 4"/>
          <p:cNvSpPr/>
          <p:nvPr/>
        </p:nvSpPr>
        <p:spPr>
          <a:xfrm>
            <a:off x="503831" y="2398971"/>
            <a:ext cx="10849969" cy="1568450"/>
          </a:xfrm>
          <a:prstGeom prst="rect">
            <a:avLst/>
          </a:prstGeom>
        </p:spPr>
        <p:txBody>
          <a:bodyPr wrap="square">
            <a:spAutoFit/>
          </a:bodyPr>
          <a:lstStyle/>
          <a:p>
            <a:pPr lvl="0" eaLnBrk="0" fontAlgn="base" hangingPunct="0">
              <a:spcBef>
                <a:spcPct val="0"/>
              </a:spcBef>
              <a:spcAft>
                <a:spcPct val="0"/>
              </a:spcAft>
            </a:pPr>
            <a:r>
              <a:rPr lang="en-US" sz="2400" dirty="0">
                <a:latin typeface="Cambria Math" panose="02040503050406030204" charset="0"/>
                <a:ea typeface="Artifakt Element Book" panose="020B0503050000020004" pitchFamily="34" charset="0"/>
                <a:cs typeface="Cambria Math" panose="02040503050406030204" charset="0"/>
              </a:rPr>
              <a:t>Sorting a linked list rearranges its items into a specific order, like </a:t>
            </a:r>
            <a:r>
              <a:rPr lang="en-US" sz="2400" dirty="0" smtClean="0">
                <a:latin typeface="Cambria Math" panose="02040503050406030204" charset="0"/>
                <a:ea typeface="Artifakt Element Book" panose="020B0503050000020004" pitchFamily="34" charset="0"/>
                <a:cs typeface="Cambria Math" panose="02040503050406030204" charset="0"/>
              </a:rPr>
              <a:t>putting</a:t>
            </a:r>
            <a:endParaRPr lang="en-US" sz="2400" dirty="0" smtClean="0">
              <a:latin typeface="Cambria Math" panose="02040503050406030204" charset="0"/>
              <a:ea typeface="Artifakt Element Book" panose="020B0503050000020004" pitchFamily="34" charset="0"/>
              <a:cs typeface="Cambria Math" panose="02040503050406030204" charset="0"/>
            </a:endParaRPr>
          </a:p>
          <a:p>
            <a:pPr lvl="0" eaLnBrk="0" fontAlgn="base" hangingPunct="0">
              <a:spcBef>
                <a:spcPct val="0"/>
              </a:spcBef>
              <a:spcAft>
                <a:spcPct val="0"/>
              </a:spcAft>
            </a:pPr>
            <a:r>
              <a:rPr lang="en-US" sz="2400" dirty="0" smtClean="0">
                <a:latin typeface="Cambria Math" panose="02040503050406030204" charset="0"/>
                <a:ea typeface="Artifakt Element Book" panose="020B0503050000020004" pitchFamily="34" charset="0"/>
                <a:cs typeface="Cambria Math" panose="02040503050406030204" charset="0"/>
              </a:rPr>
              <a:t>a </a:t>
            </a:r>
            <a:r>
              <a:rPr lang="en-US" sz="2400" dirty="0">
                <a:latin typeface="Cambria Math" panose="02040503050406030204" charset="0"/>
                <a:ea typeface="Artifakt Element Book" panose="020B0503050000020004" pitchFamily="34" charset="0"/>
                <a:cs typeface="Cambria Math" panose="02040503050406030204" charset="0"/>
              </a:rPr>
              <a:t>music playlist in alphabetical order. It checks neighboring nodes one by one, swaps their data if they are out of place, and repeats the process until everything is lined up correctly</a:t>
            </a:r>
            <a:r>
              <a:rPr lang="en-US" sz="2400" dirty="0">
                <a:latin typeface="Artifakt Element Book" panose="020B0503050000020004" pitchFamily="34" charset="0"/>
                <a:ea typeface="Artifakt Element Book" panose="020B0503050000020004" pitchFamily="34" charset="0"/>
              </a:rPr>
              <a:t>.</a:t>
            </a:r>
            <a:endParaRPr lang="en-US" altLang="en-US" sz="2400" dirty="0">
              <a:latin typeface="Artifakt Element Book" panose="020B0503050000020004" pitchFamily="34" charset="0"/>
              <a:ea typeface="Artifakt Element Book" panose="020B0503050000020004" pitchFamily="34" charset="0"/>
            </a:endParaRPr>
          </a:p>
        </p:txBody>
      </p:sp>
    </p:spTree>
  </p:cSld>
  <p:clrMapOvr>
    <a:masterClrMapping/>
  </p:clrMapOvr>
  <p:transition spd="med">
    <p:pull/>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8074" y="1061161"/>
            <a:ext cx="10515600" cy="3128702"/>
          </a:xfrm>
        </p:spPr>
        <p:txBody>
          <a:bodyPr>
            <a:noAutofit/>
          </a:bodyPr>
          <a:lstStyle/>
          <a:p>
            <a:pPr algn="ctr"/>
            <a:r>
              <a:rPr lang="en-US" dirty="0">
                <a:latin typeface="Cambria Math" panose="02040503050406030204" charset="0"/>
                <a:cs typeface="Cambria Math" panose="02040503050406030204" charset="0"/>
              </a:rPr>
              <a:t>Did you catch why P</a:t>
            </a:r>
            <a:r>
              <a:rPr lang="en-US" dirty="0" smtClean="0">
                <a:latin typeface="Cambria Math" panose="02040503050406030204" charset="0"/>
                <a:cs typeface="Cambria Math" panose="02040503050406030204" charset="0"/>
              </a:rPr>
              <a:t>itch Perfect prioritizes array </a:t>
            </a:r>
            <a:r>
              <a:rPr lang="en-US" dirty="0">
                <a:latin typeface="Cambria Math" panose="02040503050406030204" charset="0"/>
                <a:cs typeface="Cambria Math" panose="02040503050406030204" charset="0"/>
              </a:rPr>
              <a:t>over linked </a:t>
            </a:r>
            <a:r>
              <a:rPr lang="en-US" dirty="0" smtClean="0">
                <a:latin typeface="Cambria Math" panose="02040503050406030204" charset="0"/>
                <a:cs typeface="Cambria Math" panose="02040503050406030204" charset="0"/>
              </a:rPr>
              <a:t>list </a:t>
            </a:r>
            <a:r>
              <a:rPr lang="en-US" dirty="0">
                <a:latin typeface="Cambria Math" panose="02040503050406030204" charset="0"/>
                <a:cs typeface="Cambria Math" panose="02040503050406030204" charset="0"/>
              </a:rPr>
              <a:t>for </a:t>
            </a:r>
            <a:r>
              <a:rPr lang="en-US" dirty="0" smtClean="0">
                <a:latin typeface="Cambria Math" panose="02040503050406030204" charset="0"/>
                <a:cs typeface="Cambria Math" panose="02040503050406030204" charset="0"/>
              </a:rPr>
              <a:t>the song database</a:t>
            </a:r>
            <a:r>
              <a:rPr lang="en-US" b="1" dirty="0" smtClean="0">
                <a:latin typeface="Cambria Math" panose="02040503050406030204" charset="0"/>
                <a:cs typeface="Cambria Math" panose="02040503050406030204" charset="0"/>
              </a:rPr>
              <a:t>?</a:t>
            </a:r>
            <a:endParaRPr lang="en-IN" b="1" dirty="0">
              <a:latin typeface="Cambria Math" panose="02040503050406030204" charset="0"/>
              <a:cs typeface="Cambria Math" panose="020405030504060302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1716253"/>
            <a:ext cx="8300113" cy="2364428"/>
          </a:xfrm>
        </p:spPr>
        <p:txBody>
          <a:bodyPr>
            <a:normAutofit/>
          </a:bodyPr>
          <a:lstStyle/>
          <a:p>
            <a:pPr algn="ctr"/>
            <a:r>
              <a:rPr lang="en-US" sz="8000" b="1" dirty="0" smtClean="0">
                <a:latin typeface="Bradley Hand ITC" panose="03070402050302030203" pitchFamily="66" charset="0"/>
              </a:rPr>
              <a:t>Thank you!!!</a:t>
            </a:r>
            <a:endParaRPr lang="en-IN" sz="8000" b="1" dirty="0">
              <a:latin typeface="Bradley Hand ITC" panose="03070402050302030203" pitchFamily="66"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2629</Words>
  <Application>WPS Presentation</Application>
  <PresentationFormat>Widescreen</PresentationFormat>
  <Paragraphs>212</Paragraphs>
  <Slides>11</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11</vt:i4>
      </vt:variant>
    </vt:vector>
  </HeadingPairs>
  <TitlesOfParts>
    <vt:vector size="26" baseType="lpstr">
      <vt:lpstr>Arial</vt:lpstr>
      <vt:lpstr>SimSun</vt:lpstr>
      <vt:lpstr>Wingdings</vt:lpstr>
      <vt:lpstr>Bell MT</vt:lpstr>
      <vt:lpstr>AcadEref</vt:lpstr>
      <vt:lpstr>Bradley Hand ITC</vt:lpstr>
      <vt:lpstr>Mongolian Baiti</vt:lpstr>
      <vt:lpstr>Cambria Math</vt:lpstr>
      <vt:lpstr>Artifakt Element Book</vt:lpstr>
      <vt:lpstr>Artifakt Element</vt:lpstr>
      <vt:lpstr>Microsoft YaHei</vt:lpstr>
      <vt:lpstr>Arial Unicode MS</vt:lpstr>
      <vt:lpstr>Calibri Light</vt:lpstr>
      <vt:lpstr>Calibri</vt:lpstr>
      <vt:lpstr>Office Theme</vt:lpstr>
      <vt:lpstr>PITCH PERFECT A LINKED LIST APPLICATION </vt:lpstr>
      <vt:lpstr>The Anatomy of Our Choice Why the Linked List?</vt:lpstr>
      <vt:lpstr>Operations on doubly linked list</vt:lpstr>
      <vt:lpstr>PowerPoint 演示文稿</vt:lpstr>
      <vt:lpstr>Op 2. Forward traversal of linked list</vt:lpstr>
      <vt:lpstr>Op 3: Inserting node in the middle </vt:lpstr>
      <vt:lpstr>Op 4: Deleting a node</vt:lpstr>
      <vt:lpstr>Op 5: Reversal of a linked list</vt:lpstr>
      <vt:lpstr>Op 6: Sorting of a linked list</vt:lpstr>
      <vt:lpstr>Did you catch why Pitch Perfect prioritizes array over linked list for the song database?</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Home</cp:lastModifiedBy>
  <cp:revision>29</cp:revision>
  <dcterms:created xsi:type="dcterms:W3CDTF">2026-10-05T18:01:00Z</dcterms:created>
  <dcterms:modified xsi:type="dcterms:W3CDTF">2026-10-07T05:09:23Z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1033-12.1.0.28096</vt:lpwstr>
  </property>
  <property fmtid="{D5CDD505-2E9C-101B-9397-08002B2CF9AE}" pid="3" name="ICV">
    <vt:lpwstr>7C763DD3085B4B1587F01E3750407D1F_12</vt:lpwstr>
  </property>
</Properties>
</file>